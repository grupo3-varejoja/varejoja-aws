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Open Sans" charset="1" panose="00000000000000000000"/>
      <p:regular r:id="rId25"/>
    </p:embeddedFont>
    <p:embeddedFont>
      <p:font typeface="Aptos Bold" charset="1" panose="020B0004020202020204"/>
      <p:regular r:id="rId29"/>
    </p:embeddedFont>
    <p:embeddedFont>
      <p:font typeface="Aptos" charset="1" panose="020B00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2.xml"/><Relationship Id="rId22" Type="http://schemas.openxmlformats.org/officeDocument/2006/relationships/notesSlide" Target="notesSlides/notesSlide3.xml"/><Relationship Id="rId23" Type="http://schemas.openxmlformats.org/officeDocument/2006/relationships/notesSlide" Target="notesSlides/notesSlide4.xml"/><Relationship Id="rId24" Type="http://schemas.openxmlformats.org/officeDocument/2006/relationships/notesSlide" Target="notesSlides/notesSlide5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6.xml"/><Relationship Id="rId27" Type="http://schemas.openxmlformats.org/officeDocument/2006/relationships/notesSlide" Target="notesSlides/notesSlide7.xml"/><Relationship Id="rId28" Type="http://schemas.openxmlformats.org/officeDocument/2006/relationships/notesSlide" Target="notesSlides/notesSlide8.xml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notesSlide" Target="notesSlides/notes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INGRID (abertura) — ~1min</a:t>
            </a:r>
          </a:p>
          <a:p/>
          <a:p>
            <a:r>
              <a:t>Boa tarde a todos! Nós somos o Grupo 3 do AWS re/Start, da Generation Brasil, e hoje vamos apresentar a nossa proposta de modernização para a VarejoJá, um marketplace que vende pela internet.</a:t>
            </a:r>
          </a:p>
          <a:p/>
          <a:p>
            <a:r>
              <a:t>O desafio é o seguinte: a VarejoJá roda em uma infraestrutura antiga, que trava nos dias de muito movimento, como a Black Friday, e que não tem uma proteção forte para os dados. Nossa proposta é levar tudo isso para a nuvem da AWS, de um jeito escalável, seguro e preparado para crescer.</a:t>
            </a:r>
          </a:p>
          <a:p/>
          <a:p>
            <a:r>
              <a:t>Nos próximos dez minutos, a gente vai mostrar por que mudar, como vai ser a migração, como fica a arquitetura, quanto isso custa e como a loja aguenta as datas de pico.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INGRID (apresentando o grupo) — ~30s</a:t>
            </a:r>
          </a:p>
          <a:p/>
          <a:p>
            <a:r>
              <a:t>Antes de começar, deixa eu apresentar o grupo. Somos sete pessoas, cada uma com um papel: eu, Ingrid, na liderança ágil; a Jamilly, na estratégia de migração; o Guilherme, na jornada e documentação; o Bruno, na seleção dos serviços AWS; a Marjorie, no diagrama de arquitetura; o Paulo, na estimativa de custos; e o Erick, na capacidade e escala.</a:t>
            </a:r>
          </a:p>
          <a:p/>
          <a:p>
            <a:r>
              <a:t>Cada um vai falar da sua parte. Começando com o Guilherme, que vai explicar por que a VarejoJá precisa mudar para a nuvem.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GUILHERME — ~1min</a:t>
            </a:r>
          </a:p>
          <a:p/>
          <a:p>
            <a:r>
              <a:t>Obrigado, Ingrid. Por que a VarejoJá precisa mudar para a nuvem? Porque a estrutura atual cria tetos para o negócio. São quatro problemas.</a:t>
            </a:r>
          </a:p>
          <a:p/>
          <a:p>
            <a:r>
              <a:t>Primeiro, os picos de acesso. Na Black Friday, muita gente entra ao mesmo tempo e o site pode travar. Na nuvem, a capacidade cresce sob demanda.</a:t>
            </a:r>
          </a:p>
          <a:p/>
          <a:p>
            <a:r>
              <a:t>Segundo, a disponibilidade. Hoje, se um componente centralizado falha, a loja inteira pode sair do ar. Na nuvem, usamos duas zonas, e quando uma cai, a outra assume.</a:t>
            </a:r>
          </a:p>
          <a:p/>
          <a:p>
            <a:r>
              <a:t>Terceiro, o armazenamento. Fotos e vídeos em disco local dificultam crescer e entregar rápido. Na nuvem, o espaço cresce e a entrega é rápida.</a:t>
            </a:r>
          </a:p>
          <a:p/>
          <a:p>
            <a:r>
              <a:t>E quarto, a proteção dos dados. Backups mensais e manuais aumentam o risco de perda de informação. Na nuvem, os backups são automáticos.</a:t>
            </a:r>
          </a:p>
          <a:p/>
          <a:p>
            <a:r>
              <a:t>O desafio, então, é crescer sem comprometer a operação. A VarejoJá deixa de se preocupar com infraestrutura e passa a focar no que importa: vender mais e melhor. Jamilly, agora com você: como a gente leva isso tudo para a nuvem?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JAMILLY — ~50s</a:t>
            </a:r>
          </a:p>
          <a:p/>
          <a:p>
            <a:r>
              <a:t>Obrigada, Guilherme. Sobre a migração: nossa estratégia é levar cada parte do data center legado para o serviço da AWS que melhor combina com ela.</a:t>
            </a:r>
          </a:p>
          <a:p/>
          <a:p>
            <a:r>
              <a:t>A aplicação da loja, o back end e o front end, é reimplantada em instâncias EC2.</a:t>
            </a:r>
          </a:p>
          <a:p/>
          <a:p>
            <a:r>
              <a:t>O banco de dados legado vai para o Amazon RDS, usando o AWS DMS, que é o serviço da AWS de migração de bancos de dados.</a:t>
            </a:r>
          </a:p>
          <a:p/>
          <a:p>
            <a:r>
              <a:t>E as imagens e vídeos, que hoje estão em disco local, vão para o Amazon S3, com a ajuda do AWS DataSync.</a:t>
            </a:r>
          </a:p>
          <a:p/>
          <a:p>
            <a:r>
              <a:t>Ou seja: três partes, três caminhos, cada um com um destino claro. Agora o Paulo vai mostrar como fica a arquitetura depois da migração.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PAULO (arquitetura) — ~1min</a:t>
            </a:r>
          </a:p>
          <a:p/>
          <a:p>
            <a:r>
              <a:t>Valeu, Jamilly. Este é o diagrama da arquitetura proposta, na região de São Paulo.</a:t>
            </a:r>
          </a:p>
          <a:p/>
          <a:p>
            <a:r>
              <a:t>O cliente entra pela internet. As fotos e vídeos vêm do S3 pelo CloudFront, que entrega de um ponto perto do cliente. O acesso à loja passa pelo gateway de internet e chega ao ALB, que reparte os clientes entre os servidores.</a:t>
            </a:r>
          </a:p>
          <a:p/>
          <a:p>
            <a:r>
              <a:t>Os servidores EC2 ficam em duas zonas de disponibilidade, separados em front end e back end, e o Auto Scaling mantém de 2 a 4 instâncias em cada camada, ou seja, de 4 a 8 servidores no total, conforme o movimento.</a:t>
            </a:r>
          </a:p>
          <a:p/>
          <a:p>
            <a:r>
              <a:t>O banco RDS fica em sub-rede privada e tem uma cópia na outra zona, o chamado Multi-AZ. Se uma zona cai, a outra assume. O ElastiCache acelera as consultas.</a:t>
            </a:r>
          </a:p>
          <a:p/>
          <a:p>
            <a:r>
              <a:t>E, vigiando tudo, o CloudWatch monitora e o SNS avisa a equipe quando algo sai do normal. Bruno, agora é com você: o que cada serviço resolve.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BRUNO (serviços AWS) — ~1min</a:t>
            </a:r>
          </a:p>
          <a:p/>
          <a:p>
            <a:r>
              <a:t>Obrigado, Paulo. Agora que vimos o diagrama, vou resumir o problema que cada serviço resolve. Cada peça está ali por um motivo.</a:t>
            </a:r>
          </a:p>
          <a:p/>
          <a:p>
            <a:r>
              <a:t>Na computação, o EC2 e o Auto Scaling ligam mais servidores quando o movimento sobe e desligam quando cai, para a loja pagar só o que usa.</a:t>
            </a:r>
          </a:p>
          <a:p/>
          <a:p>
            <a:r>
              <a:t>Na rede, o ALB reparte os clientes entre os servidores e o CloudFront entrega fotos e vídeos rápido.</a:t>
            </a:r>
          </a:p>
          <a:p/>
          <a:p>
            <a:r>
              <a:t>Nos dados, o RDS Multi-AZ mantém o banco no ar, o ElastiCache acelera as consultas e o S3 guarda as mídias sem limite de espaço.</a:t>
            </a:r>
          </a:p>
          <a:p/>
          <a:p>
            <a:r>
              <a:t>No backup e recuperação, o RDS Backups e o S3 Versioning permitem recuperar tudo em caso de falha ou exclusão acidental.</a:t>
            </a:r>
          </a:p>
          <a:p/>
          <a:p>
            <a:r>
              <a:t>E na segurança e observabilidade, o IAM e os Security Groups garantem que só entra quem tem permissão, e o CloudWatch vigia: se algo sair do normal, o alarme dispara e o SNS avisa a equipe na hora.</a:t>
            </a:r>
          </a:p>
          <a:p/>
          <a:p>
            <a:r>
              <a:t>Paulo e Jamilly vão falar agora do custo disso tudo.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PAULO e JAMILLY (custos) — ~1min20</a:t>
            </a:r>
          </a:p>
          <a:p/>
          <a:p>
            <a:r>
              <a:t>PAULO: Falando de custos. Estimamos o núcleo da arquitetura com preços da região de São Paulo, sob demanda, em dólares por mês. Cada linha da tabela mostra como foi calculada.</a:t>
            </a:r>
          </a:p>
          <a:p/>
          <a:p>
            <a:r>
              <a:t>Num mês normal, o total fica em cerca de 4.921 dólares. Os maiores itens são os servidores EC2: cerca de 2.118 dólares para o front end e outros 2.118 para o back end. O banco RDS Multi-AZ custa cerca de 428, o CloudFront 216 e o S3 com 500 GB, uns 41.</a:t>
            </a:r>
          </a:p>
          <a:p/>
          <a:p>
            <a:r>
              <a:t>JAMILLY: Na semana da Black Friday, simulamos o pior caso: 8 servidores durante uma semana. O total sobe para cerca de 5.896 dólares, uns 20% a mais que o mês normal.</a:t>
            </a:r>
          </a:p>
          <a:p/>
          <a:p>
            <a:r>
              <a:t>E aqui está o ponto principal: se a gente deixasse os 8 servidores ligados o mês inteiro, só os servidores custariam 8.470 dólares. Com o Auto Scaling, a economia no mês de pico é de cerca de 3.260 dólares, uns 40%.</a:t>
            </a:r>
          </a:p>
          <a:p/>
          <a:p>
            <a:r>
              <a:t>Importante: ALB, ElastiCache, CloudWatch e SNS ficaram fora dessa conta, porque variam com o uso. Os valores normais vêm da cotação na AWS Pricing Calculator, e os de pico são uma simulação. Erick, agora você mostra por que o pico importa.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ERICK (datas sazonais / capacidade) — ~1min</a:t>
            </a:r>
          </a:p>
          <a:p/>
          <a:p>
            <a:r>
              <a:t>Obrigado. Como analistas de nuvem, queremos antecipar um problema real do mercado: os picos de acesso nas datas sazonais. No calendário de 2026 temos o Dia das Mães, dos Namorados, dos Pais, das Crianças, a Black Friday no dia 27 de novembro e o Natal.</a:t>
            </a:r>
          </a:p>
          <a:p/>
          <a:p>
            <a:r>
              <a:t>Usamos um cenário ilustrativo, em que cada servidor atende cerca de 1.000 acessos simultâneos. Num dia comum, são 2.000 acessos simultâneos, e 2 servidores dão conta. Mas na Black Friday e no Natal, o movimento é de 5 a 6 vezes maior, entre 10 e 12 mil acessos. Com só 2 a 4 servidores fixos, o site travaria.</a:t>
            </a:r>
          </a:p>
          <a:p/>
          <a:p>
            <a:r>
              <a:t>Por isso a solução é o Auto Scaling: ele sobe de 4 para até 8 instâncias EC2 no pico, enquanto o CloudFront e o ElastiCache ajudam a reduzir a carga. Passado o pico, volta ao mínimo, e o custo cai.</a:t>
            </a:r>
          </a:p>
          <a:p/>
          <a:p>
            <a:r>
              <a:t>Vale ser transparente: o limite de 8 servidores é a capacidade que propomos, não uma garantia para 12 mil acessos, porque é um cenário ilustrativo. Aqui a infraestrutura passa a apoiar o crescimento do negócio, em vez de limitar. Marjorie, e depois disso, o que vem?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INGRID (finalização) — ~30s</a:t>
            </a:r>
          </a:p>
          <a:p/>
          <a:p>
            <a:r>
              <a:t>Para fechar: a proposta do Grupo 3 leva a VarejoJá de uma infraestrutura que limita o crescimento para uma arquitetura na AWS que é escalável, segura e econômica, que aguenta a Black Friday e paga só pelo que usa.</a:t>
            </a:r>
          </a:p>
          <a:p/>
          <a:p>
            <a:r>
              <a:t>Agradecemos a atenção de todos! No QR code aqui no slide, vocês acessam o repositório do projeto e o LinkedIn de cada integrante da equipe. Ficamos à disposição para perguntas.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MARJORIE (evolução da arquitetura) — ~50s</a:t>
            </a:r>
          </a:p>
          <a:p/>
          <a:p>
            <a:r>
              <a:t>Obrigada, Erick. Depois dessa primeira versão, a arquitetura ainda tem espaço para evoluir. Temos quatro próximos passos.</a:t>
            </a:r>
          </a:p>
          <a:p/>
          <a:p>
            <a:r>
              <a:t>O primeiro é a recuperação de desastres: definir o RTO e o RPO, testar a restauração dos backups e planejar a recuperação em outra região.</a:t>
            </a:r>
          </a:p>
          <a:p/>
          <a:p>
            <a:r>
              <a:t>O segundo é infraestrutura como código, com CloudFormation ou Terraform, para recriar o ambiente de forma padronizada, versionada e mais rápida.</a:t>
            </a:r>
          </a:p>
          <a:p/>
          <a:p>
            <a:r>
              <a:t>O terceiro é a entrega contínua, com pipelines de CI/CD, que automatizam testes e implantações e reduzem erros nas atualizações.</a:t>
            </a:r>
          </a:p>
          <a:p/>
          <a:p>
            <a:r>
              <a:t>E o quarto é a gestão de custos, com FinOps e AWS Budgets, para acompanhar os gastos, configurar alertas e ajustar os recursos conforme o uso.</a:t>
            </a:r>
          </a:p>
          <a:p/>
          <a:p>
            <a:r>
              <a:t>O objetivo é evoluir com segurança, automação e continuidade do negócio. Ingrid, para fechar.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9.jpeg"/><Relationship Id="rId10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33172" cy="10287000"/>
            <a:chOff x="0" y="0"/>
            <a:chExt cx="31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AutoShape 4" id="4"/>
          <p:cNvSpPr/>
          <p:nvPr/>
        </p:nvSpPr>
        <p:spPr>
          <a:xfrm rot="3060">
            <a:off x="1090136" y="9527857"/>
            <a:ext cx="16199177" cy="0"/>
          </a:xfrm>
          <a:prstGeom prst="line">
            <a:avLst/>
          </a:prstGeom>
          <a:ln cap="rnd" w="9525">
            <a:solidFill>
              <a:srgbClr val="E5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97280" y="960120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VarejoJá • AWS re/Start | Generation Brasil | Grupo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915" y="1224915"/>
            <a:ext cx="15929610" cy="7837170"/>
            <a:chOff x="0" y="0"/>
            <a:chExt cx="21239480" cy="10449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39480" cy="10449560"/>
            </a:xfrm>
            <a:custGeom>
              <a:avLst/>
              <a:gdLst/>
              <a:ahLst/>
              <a:cxnLst/>
              <a:rect r="r" b="b" t="t" l="l"/>
              <a:pathLst>
                <a:path h="10449560" w="21239480">
                  <a:moveTo>
                    <a:pt x="0" y="916686"/>
                  </a:moveTo>
                  <a:cubicBezTo>
                    <a:pt x="0" y="410337"/>
                    <a:pt x="410337" y="0"/>
                    <a:pt x="916686" y="0"/>
                  </a:cubicBezTo>
                  <a:lnTo>
                    <a:pt x="20322794" y="0"/>
                  </a:lnTo>
                  <a:cubicBezTo>
                    <a:pt x="20829015" y="0"/>
                    <a:pt x="21239480" y="410337"/>
                    <a:pt x="21239480" y="916686"/>
                  </a:cubicBezTo>
                  <a:lnTo>
                    <a:pt x="21239480" y="9532874"/>
                  </a:lnTo>
                  <a:cubicBezTo>
                    <a:pt x="21239480" y="10039096"/>
                    <a:pt x="20829143" y="10449560"/>
                    <a:pt x="20322794" y="10449560"/>
                  </a:cubicBezTo>
                  <a:lnTo>
                    <a:pt x="916686" y="10449560"/>
                  </a:lnTo>
                  <a:cubicBezTo>
                    <a:pt x="410337" y="10449560"/>
                    <a:pt x="0" y="10039223"/>
                    <a:pt x="0" y="9532874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880360" y="1920240"/>
            <a:ext cx="12481560" cy="4155948"/>
            <a:chOff x="0" y="0"/>
            <a:chExt cx="16642080" cy="5541264"/>
          </a:xfrm>
        </p:grpSpPr>
        <p:sp>
          <p:nvSpPr>
            <p:cNvPr name="Freeform 11" id="11" descr="logo.png"/>
            <p:cNvSpPr/>
            <p:nvPr/>
          </p:nvSpPr>
          <p:spPr>
            <a:xfrm flipH="false" flipV="false" rot="0">
              <a:off x="0" y="0"/>
              <a:ext cx="16642080" cy="5541264"/>
            </a:xfrm>
            <a:custGeom>
              <a:avLst/>
              <a:gdLst/>
              <a:ahLst/>
              <a:cxnLst/>
              <a:rect r="r" b="b" t="t" l="l"/>
              <a:pathLst>
                <a:path h="5541264" w="16642080">
                  <a:moveTo>
                    <a:pt x="0" y="0"/>
                  </a:moveTo>
                  <a:lnTo>
                    <a:pt x="16642080" y="0"/>
                  </a:lnTo>
                  <a:lnTo>
                    <a:pt x="16642080" y="5541264"/>
                  </a:lnTo>
                  <a:lnTo>
                    <a:pt x="0" y="5541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0" b="-2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6309360"/>
            <a:ext cx="15087600" cy="822960"/>
            <a:chOff x="0" y="0"/>
            <a:chExt cx="201168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1168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Modernização de um Marketplace com Arquitetura AWS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20" y="7200900"/>
            <a:ext cx="15087600" cy="617220"/>
            <a:chOff x="0" y="0"/>
            <a:chExt cx="201168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300" r="0" b="-4263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11680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Uma proposta escalável, segura e preparada para crescer.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" y="8023860"/>
            <a:ext cx="15087600" cy="548640"/>
            <a:chOff x="0" y="0"/>
            <a:chExt cx="201168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0116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AWS re/Start | Generation Brasil | Grupo 3 | 2026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459200" y="9582150"/>
            <a:ext cx="822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18508" y="-1328930"/>
            <a:ext cx="22360844" cy="12578285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92176" cy="10295039"/>
            <a:chOff x="0" y="0"/>
            <a:chExt cx="256235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28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9672471"/>
            <a:ext cx="16472068" cy="20593"/>
            <a:chOff x="0" y="0"/>
            <a:chExt cx="21962758" cy="27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2745" cy="27432"/>
            </a:xfrm>
            <a:custGeom>
              <a:avLst/>
              <a:gdLst/>
              <a:ahLst/>
              <a:cxnLst/>
              <a:rect r="r" b="b" t="t" l="l"/>
              <a:pathLst>
                <a:path h="27432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2402176"/>
            <a:ext cx="3744657" cy="3307098"/>
            <a:chOff x="0" y="0"/>
            <a:chExt cx="4850105" cy="42833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4189" y="2600010"/>
            <a:ext cx="3320741" cy="70658"/>
            <a:chOff x="0" y="0"/>
            <a:chExt cx="4301046" cy="915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C2410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89531" y="2748679"/>
            <a:ext cx="1630957" cy="1630957"/>
            <a:chOff x="0" y="0"/>
            <a:chExt cx="1958340" cy="19583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979170" y="0"/>
                  </a:moveTo>
                  <a:lnTo>
                    <a:pt x="979170" y="0"/>
                  </a:lnTo>
                  <a:cubicBezTo>
                    <a:pt x="1238862" y="0"/>
                    <a:pt x="1487918" y="103162"/>
                    <a:pt x="1671548" y="286792"/>
                  </a:cubicBezTo>
                  <a:cubicBezTo>
                    <a:pt x="1855178" y="470422"/>
                    <a:pt x="1958340" y="719478"/>
                    <a:pt x="1958340" y="979170"/>
                  </a:cubicBezTo>
                  <a:lnTo>
                    <a:pt x="1958340" y="979170"/>
                  </a:lnTo>
                  <a:cubicBezTo>
                    <a:pt x="1958340" y="1238862"/>
                    <a:pt x="1855178" y="1487918"/>
                    <a:pt x="1671548" y="1671548"/>
                  </a:cubicBezTo>
                  <a:cubicBezTo>
                    <a:pt x="1487918" y="1855178"/>
                    <a:pt x="1238862" y="1958340"/>
                    <a:pt x="979170" y="1958340"/>
                  </a:cubicBezTo>
                  <a:lnTo>
                    <a:pt x="979170" y="1958340"/>
                  </a:lnTo>
                  <a:cubicBezTo>
                    <a:pt x="719478" y="1958340"/>
                    <a:pt x="470422" y="1855178"/>
                    <a:pt x="286792" y="1671548"/>
                  </a:cubicBezTo>
                  <a:cubicBezTo>
                    <a:pt x="103162" y="1487918"/>
                    <a:pt x="0" y="1238862"/>
                    <a:pt x="0" y="979170"/>
                  </a:cubicBezTo>
                  <a:lnTo>
                    <a:pt x="0" y="979170"/>
                  </a:lnTo>
                  <a:cubicBezTo>
                    <a:pt x="0" y="719478"/>
                    <a:pt x="103162" y="470422"/>
                    <a:pt x="286792" y="286792"/>
                  </a:cubicBezTo>
                  <a:cubicBezTo>
                    <a:pt x="470422" y="103162"/>
                    <a:pt x="719478" y="0"/>
                    <a:pt x="97917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44513" y="2402176"/>
            <a:ext cx="3744657" cy="3307098"/>
            <a:chOff x="0" y="0"/>
            <a:chExt cx="4850105" cy="42833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56476" y="2600010"/>
            <a:ext cx="3320741" cy="70658"/>
            <a:chOff x="0" y="0"/>
            <a:chExt cx="4301046" cy="915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291776" y="2748679"/>
            <a:ext cx="1630957" cy="1630957"/>
            <a:chOff x="0" y="0"/>
            <a:chExt cx="1958340" cy="1958340"/>
          </a:xfrm>
        </p:grpSpPr>
        <p:sp>
          <p:nvSpPr>
            <p:cNvPr name="Freeform 19" id="19" descr="_avatar_Jamilly.png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0" y="0"/>
                  </a:moveTo>
                  <a:lnTo>
                    <a:pt x="1958340" y="0"/>
                  </a:lnTo>
                  <a:lnTo>
                    <a:pt x="1958340" y="1958340"/>
                  </a:lnTo>
                  <a:lnTo>
                    <a:pt x="0" y="1958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96800" y="2402176"/>
            <a:ext cx="3744657" cy="3307098"/>
            <a:chOff x="0" y="0"/>
            <a:chExt cx="4850105" cy="42833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08763" y="2600010"/>
            <a:ext cx="3320741" cy="70658"/>
            <a:chOff x="0" y="0"/>
            <a:chExt cx="4301046" cy="915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53655" y="2748679"/>
            <a:ext cx="1630957" cy="1630957"/>
            <a:chOff x="0" y="0"/>
            <a:chExt cx="1958340" cy="1958340"/>
          </a:xfrm>
        </p:grpSpPr>
        <p:sp>
          <p:nvSpPr>
            <p:cNvPr name="Freeform 25" id="25" descr="_avatar_Guilherme.png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0" y="0"/>
                  </a:moveTo>
                  <a:lnTo>
                    <a:pt x="1958340" y="0"/>
                  </a:lnTo>
                  <a:lnTo>
                    <a:pt x="1958340" y="1958340"/>
                  </a:lnTo>
                  <a:lnTo>
                    <a:pt x="0" y="1958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949087" y="2402176"/>
            <a:ext cx="3744657" cy="3307098"/>
            <a:chOff x="0" y="0"/>
            <a:chExt cx="4850105" cy="42833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161050" y="2600010"/>
            <a:ext cx="3320741" cy="70658"/>
            <a:chOff x="0" y="0"/>
            <a:chExt cx="4301046" cy="915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996241" y="2748679"/>
            <a:ext cx="1630957" cy="1630957"/>
            <a:chOff x="0" y="0"/>
            <a:chExt cx="1958340" cy="1958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979170" y="0"/>
                  </a:moveTo>
                  <a:lnTo>
                    <a:pt x="979170" y="0"/>
                  </a:lnTo>
                  <a:cubicBezTo>
                    <a:pt x="1238862" y="0"/>
                    <a:pt x="1487918" y="103162"/>
                    <a:pt x="1671548" y="286792"/>
                  </a:cubicBezTo>
                  <a:cubicBezTo>
                    <a:pt x="1855178" y="470422"/>
                    <a:pt x="1958340" y="719478"/>
                    <a:pt x="1958340" y="979170"/>
                  </a:cubicBezTo>
                  <a:lnTo>
                    <a:pt x="1958340" y="979170"/>
                  </a:lnTo>
                  <a:cubicBezTo>
                    <a:pt x="1958340" y="1238862"/>
                    <a:pt x="1855178" y="1487918"/>
                    <a:pt x="1671548" y="1671548"/>
                  </a:cubicBezTo>
                  <a:cubicBezTo>
                    <a:pt x="1487918" y="1855178"/>
                    <a:pt x="1238862" y="1958340"/>
                    <a:pt x="979170" y="1958340"/>
                  </a:cubicBezTo>
                  <a:lnTo>
                    <a:pt x="979170" y="1958340"/>
                  </a:lnTo>
                  <a:cubicBezTo>
                    <a:pt x="719478" y="1958340"/>
                    <a:pt x="470422" y="1855178"/>
                    <a:pt x="286792" y="1671548"/>
                  </a:cubicBezTo>
                  <a:cubicBezTo>
                    <a:pt x="103162" y="1487918"/>
                    <a:pt x="0" y="1238862"/>
                    <a:pt x="0" y="979170"/>
                  </a:cubicBezTo>
                  <a:lnTo>
                    <a:pt x="0" y="979170"/>
                  </a:lnTo>
                  <a:cubicBezTo>
                    <a:pt x="0" y="719478"/>
                    <a:pt x="103162" y="470422"/>
                    <a:pt x="286792" y="286792"/>
                  </a:cubicBezTo>
                  <a:cubicBezTo>
                    <a:pt x="470422" y="103162"/>
                    <a:pt x="719478" y="0"/>
                    <a:pt x="97917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082504" y="5951202"/>
            <a:ext cx="3744657" cy="3307098"/>
            <a:chOff x="0" y="0"/>
            <a:chExt cx="4850105" cy="42833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94467" y="6149035"/>
            <a:ext cx="3320741" cy="70658"/>
            <a:chOff x="0" y="0"/>
            <a:chExt cx="4301046" cy="915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C2410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135672" y="6293117"/>
            <a:ext cx="1638321" cy="1638321"/>
            <a:chOff x="0" y="0"/>
            <a:chExt cx="1958340" cy="1958340"/>
          </a:xfrm>
        </p:grpSpPr>
        <p:sp>
          <p:nvSpPr>
            <p:cNvPr name="Freeform 37" id="37" descr="_avatar_Paulo.png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0" y="0"/>
                  </a:moveTo>
                  <a:lnTo>
                    <a:pt x="1958340" y="0"/>
                  </a:lnTo>
                  <a:lnTo>
                    <a:pt x="1958340" y="1958340"/>
                  </a:lnTo>
                  <a:lnTo>
                    <a:pt x="0" y="1958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434791" y="5951202"/>
            <a:ext cx="3744657" cy="3307098"/>
            <a:chOff x="0" y="0"/>
            <a:chExt cx="4850105" cy="42833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646754" y="6149035"/>
            <a:ext cx="3320741" cy="70658"/>
            <a:chOff x="0" y="0"/>
            <a:chExt cx="4301046" cy="915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487964" y="6293117"/>
            <a:ext cx="1638321" cy="1638321"/>
            <a:chOff x="0" y="0"/>
            <a:chExt cx="1958340" cy="19583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979170" y="0"/>
                  </a:moveTo>
                  <a:lnTo>
                    <a:pt x="979170" y="0"/>
                  </a:lnTo>
                  <a:cubicBezTo>
                    <a:pt x="1238862" y="0"/>
                    <a:pt x="1487918" y="103162"/>
                    <a:pt x="1671548" y="286792"/>
                  </a:cubicBezTo>
                  <a:cubicBezTo>
                    <a:pt x="1855178" y="470422"/>
                    <a:pt x="1958340" y="719478"/>
                    <a:pt x="1958340" y="979170"/>
                  </a:cubicBezTo>
                  <a:lnTo>
                    <a:pt x="1958340" y="979170"/>
                  </a:lnTo>
                  <a:cubicBezTo>
                    <a:pt x="1958340" y="1238862"/>
                    <a:pt x="1855178" y="1487918"/>
                    <a:pt x="1671548" y="1671548"/>
                  </a:cubicBezTo>
                  <a:cubicBezTo>
                    <a:pt x="1487918" y="1855178"/>
                    <a:pt x="1238862" y="1958340"/>
                    <a:pt x="979170" y="1958340"/>
                  </a:cubicBezTo>
                  <a:lnTo>
                    <a:pt x="979170" y="1958340"/>
                  </a:lnTo>
                  <a:cubicBezTo>
                    <a:pt x="719478" y="1958340"/>
                    <a:pt x="470422" y="1855178"/>
                    <a:pt x="286792" y="1671548"/>
                  </a:cubicBezTo>
                  <a:cubicBezTo>
                    <a:pt x="103162" y="1487918"/>
                    <a:pt x="0" y="1238862"/>
                    <a:pt x="0" y="979170"/>
                  </a:cubicBezTo>
                  <a:lnTo>
                    <a:pt x="0" y="979170"/>
                  </a:lnTo>
                  <a:cubicBezTo>
                    <a:pt x="0" y="719478"/>
                    <a:pt x="103162" y="470422"/>
                    <a:pt x="286792" y="286792"/>
                  </a:cubicBezTo>
                  <a:cubicBezTo>
                    <a:pt x="470422" y="103162"/>
                    <a:pt x="719478" y="0"/>
                    <a:pt x="97917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1678" r="0" b="-1167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787078" y="5951202"/>
            <a:ext cx="3744657" cy="3307098"/>
            <a:chOff x="0" y="0"/>
            <a:chExt cx="4850105" cy="42833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50130" cy="4283401"/>
            </a:xfrm>
            <a:custGeom>
              <a:avLst/>
              <a:gdLst/>
              <a:ahLst/>
              <a:cxnLst/>
              <a:rect r="r" b="b" t="t" l="l"/>
              <a:pathLst>
                <a:path h="4283401" w="4850130">
                  <a:moveTo>
                    <a:pt x="0" y="685374"/>
                  </a:moveTo>
                  <a:cubicBezTo>
                    <a:pt x="0" y="306888"/>
                    <a:pt x="266192" y="0"/>
                    <a:pt x="594487" y="0"/>
                  </a:cubicBezTo>
                  <a:lnTo>
                    <a:pt x="4255643" y="0"/>
                  </a:lnTo>
                  <a:cubicBezTo>
                    <a:pt x="4583938" y="0"/>
                    <a:pt x="4850130" y="306888"/>
                    <a:pt x="4850130" y="685374"/>
                  </a:cubicBezTo>
                  <a:lnTo>
                    <a:pt x="4850130" y="3598031"/>
                  </a:lnTo>
                  <a:cubicBezTo>
                    <a:pt x="4850130" y="3976516"/>
                    <a:pt x="4583938" y="4283401"/>
                    <a:pt x="4255643" y="4283401"/>
                  </a:cubicBezTo>
                  <a:lnTo>
                    <a:pt x="594487" y="4283401"/>
                  </a:lnTo>
                  <a:cubicBezTo>
                    <a:pt x="266192" y="4283401"/>
                    <a:pt x="0" y="3976516"/>
                    <a:pt x="0" y="3598031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999041" y="6149035"/>
            <a:ext cx="3320741" cy="70658"/>
            <a:chOff x="0" y="0"/>
            <a:chExt cx="4301046" cy="915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00982" cy="91567"/>
            </a:xfrm>
            <a:custGeom>
              <a:avLst/>
              <a:gdLst/>
              <a:ahLst/>
              <a:cxnLst/>
              <a:rect r="r" b="b" t="t" l="l"/>
              <a:pathLst>
                <a:path h="91567" w="4300982">
                  <a:moveTo>
                    <a:pt x="0" y="0"/>
                  </a:moveTo>
                  <a:lnTo>
                    <a:pt x="4300982" y="0"/>
                  </a:lnTo>
                  <a:lnTo>
                    <a:pt x="430098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839649" y="6293117"/>
            <a:ext cx="1638321" cy="1638321"/>
            <a:chOff x="0" y="0"/>
            <a:chExt cx="1958340" cy="19583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58340" cy="1958340"/>
            </a:xfrm>
            <a:custGeom>
              <a:avLst/>
              <a:gdLst/>
              <a:ahLst/>
              <a:cxnLst/>
              <a:rect r="r" b="b" t="t" l="l"/>
              <a:pathLst>
                <a:path h="1958340" w="1958340">
                  <a:moveTo>
                    <a:pt x="979170" y="0"/>
                  </a:moveTo>
                  <a:lnTo>
                    <a:pt x="979170" y="0"/>
                  </a:lnTo>
                  <a:cubicBezTo>
                    <a:pt x="1238862" y="0"/>
                    <a:pt x="1487918" y="103162"/>
                    <a:pt x="1671548" y="286792"/>
                  </a:cubicBezTo>
                  <a:cubicBezTo>
                    <a:pt x="1855178" y="470422"/>
                    <a:pt x="1958340" y="719478"/>
                    <a:pt x="1958340" y="979170"/>
                  </a:cubicBezTo>
                  <a:lnTo>
                    <a:pt x="1958340" y="979170"/>
                  </a:lnTo>
                  <a:cubicBezTo>
                    <a:pt x="1958340" y="1238862"/>
                    <a:pt x="1855178" y="1487918"/>
                    <a:pt x="1671548" y="1671548"/>
                  </a:cubicBezTo>
                  <a:cubicBezTo>
                    <a:pt x="1487918" y="1855178"/>
                    <a:pt x="1238862" y="1958340"/>
                    <a:pt x="979170" y="1958340"/>
                  </a:cubicBezTo>
                  <a:lnTo>
                    <a:pt x="979170" y="1958340"/>
                  </a:lnTo>
                  <a:cubicBezTo>
                    <a:pt x="719478" y="1958340"/>
                    <a:pt x="470422" y="1855178"/>
                    <a:pt x="286792" y="1671548"/>
                  </a:cubicBezTo>
                  <a:cubicBezTo>
                    <a:pt x="103162" y="1487918"/>
                    <a:pt x="0" y="1238862"/>
                    <a:pt x="0" y="979170"/>
                  </a:cubicBezTo>
                  <a:lnTo>
                    <a:pt x="0" y="979170"/>
                  </a:lnTo>
                  <a:cubicBezTo>
                    <a:pt x="0" y="719478"/>
                    <a:pt x="103162" y="470422"/>
                    <a:pt x="286792" y="286792"/>
                  </a:cubicBezTo>
                  <a:cubicBezTo>
                    <a:pt x="470422" y="103162"/>
                    <a:pt x="719478" y="0"/>
                    <a:pt x="97917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19667" y="451094"/>
            <a:ext cx="16417204" cy="96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Quem está por trás da proposta?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47118" y="1536630"/>
            <a:ext cx="1641720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Uma equipe, sete papéis, um mesmo desafio.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7118" y="9763596"/>
            <a:ext cx="136718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VarejoJá  •  AWS re/Start  |  Generation Brasil  |  Grupo 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636765" y="9827571"/>
            <a:ext cx="494205" cy="34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3086" y="4427261"/>
            <a:ext cx="3122947" cy="46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936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Ingrid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555373" y="4427261"/>
            <a:ext cx="3122947" cy="46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936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Jamilly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07660" y="4427261"/>
            <a:ext cx="3122947" cy="64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936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Guilherme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259938" y="4427261"/>
            <a:ext cx="3122947" cy="64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936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Bruno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393364" y="8002114"/>
            <a:ext cx="3122947" cy="46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936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Paulo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45641" y="8002114"/>
            <a:ext cx="3122947" cy="46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936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Erick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839649" y="7992589"/>
            <a:ext cx="170283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Marjorie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50064" y="4954228"/>
            <a:ext cx="3429000" cy="548640"/>
            <a:chOff x="0" y="0"/>
            <a:chExt cx="45720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Liderança ágil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249862" y="8518109"/>
            <a:ext cx="3429000" cy="548640"/>
            <a:chOff x="0" y="0"/>
            <a:chExt cx="457200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arquitetura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392755" y="4954228"/>
            <a:ext cx="3429000" cy="548640"/>
            <a:chOff x="0" y="0"/>
            <a:chExt cx="457200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Estratégia de Migração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51170" y="4954228"/>
            <a:ext cx="3429000" cy="548640"/>
            <a:chOff x="0" y="0"/>
            <a:chExt cx="45720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Jornada e documentação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976568" y="8518109"/>
            <a:ext cx="3429000" cy="548640"/>
            <a:chOff x="0" y="0"/>
            <a:chExt cx="45720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Estimativa de custos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554515" y="8529082"/>
            <a:ext cx="3586834" cy="548640"/>
            <a:chOff x="0" y="0"/>
            <a:chExt cx="4782445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82445" cy="731520"/>
            </a:xfrm>
            <a:custGeom>
              <a:avLst/>
              <a:gdLst/>
              <a:ahLst/>
              <a:cxnLst/>
              <a:rect r="r" b="b" t="t" l="l"/>
              <a:pathLst>
                <a:path h="731520" w="4782445">
                  <a:moveTo>
                    <a:pt x="0" y="0"/>
                  </a:moveTo>
                  <a:lnTo>
                    <a:pt x="4782445" y="0"/>
                  </a:lnTo>
                  <a:lnTo>
                    <a:pt x="478244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4400" b="-7178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78244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Capacidade e escala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122950" y="4954228"/>
            <a:ext cx="3429000" cy="548640"/>
            <a:chOff x="0" y="0"/>
            <a:chExt cx="457200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Seleção de serviços AWS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33172" cy="10287000"/>
            <a:chOff x="0" y="0"/>
            <a:chExt cx="31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AutoShape 4" id="4"/>
          <p:cNvSpPr/>
          <p:nvPr/>
        </p:nvSpPr>
        <p:spPr>
          <a:xfrm rot="3060">
            <a:off x="1090136" y="9527857"/>
            <a:ext cx="16199177" cy="0"/>
          </a:xfrm>
          <a:prstGeom prst="line">
            <a:avLst/>
          </a:prstGeom>
          <a:ln cap="rnd" w="9525">
            <a:solidFill>
              <a:srgbClr val="E5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97280" y="960120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VarejoJá • AWS re/Start | Generation Brasil | Grupo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548640"/>
            <a:ext cx="16184880" cy="1121283"/>
            <a:chOff x="0" y="0"/>
            <a:chExt cx="21579840" cy="14950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495044"/>
            </a:xfrm>
            <a:custGeom>
              <a:avLst/>
              <a:gdLst/>
              <a:ahLst/>
              <a:cxnLst/>
              <a:rect r="r" b="b" t="t" l="l"/>
              <a:pathLst>
                <a:path h="149504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95044"/>
                  </a:lnTo>
                  <a:lnTo>
                    <a:pt x="0" y="1495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322" r="0" b="-230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154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Por que a VarejoJá precisa mudar para a nuvem?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6330" y="1704975"/>
            <a:ext cx="16184880" cy="617220"/>
            <a:chOff x="0" y="0"/>
            <a:chExt cx="2157984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579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 infraestrutura legada atual cria tetos. A nuvem dá espaço para crescer.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7755" y="2527935"/>
            <a:ext cx="7974330" cy="2487930"/>
            <a:chOff x="0" y="0"/>
            <a:chExt cx="10632440" cy="331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32440" cy="3317240"/>
            </a:xfrm>
            <a:custGeom>
              <a:avLst/>
              <a:gdLst/>
              <a:ahLst/>
              <a:cxnLst/>
              <a:rect r="r" b="b" t="t" l="l"/>
              <a:pathLst>
                <a:path h="3317240" w="10632440">
                  <a:moveTo>
                    <a:pt x="0" y="276479"/>
                  </a:moveTo>
                  <a:cubicBezTo>
                    <a:pt x="0" y="123698"/>
                    <a:pt x="123698" y="0"/>
                    <a:pt x="276479" y="0"/>
                  </a:cubicBezTo>
                  <a:lnTo>
                    <a:pt x="10355961" y="0"/>
                  </a:lnTo>
                  <a:cubicBezTo>
                    <a:pt x="10508615" y="0"/>
                    <a:pt x="10632440" y="123698"/>
                    <a:pt x="10632440" y="276479"/>
                  </a:cubicBezTo>
                  <a:lnTo>
                    <a:pt x="10632440" y="3040761"/>
                  </a:lnTo>
                  <a:cubicBezTo>
                    <a:pt x="10632440" y="3193415"/>
                    <a:pt x="10508742" y="3317240"/>
                    <a:pt x="10355961" y="3317240"/>
                  </a:cubicBezTo>
                  <a:lnTo>
                    <a:pt x="276479" y="3317240"/>
                  </a:lnTo>
                  <a:cubicBezTo>
                    <a:pt x="123698" y="3317240"/>
                    <a:pt x="0" y="3193542"/>
                    <a:pt x="0" y="3040761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87755" y="2733675"/>
            <a:ext cx="142494" cy="2076450"/>
            <a:chOff x="0" y="0"/>
            <a:chExt cx="189992" cy="276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9992" cy="2768600"/>
            </a:xfrm>
            <a:custGeom>
              <a:avLst/>
              <a:gdLst/>
              <a:ahLst/>
              <a:cxnLst/>
              <a:rect r="r" b="b" t="t" l="l"/>
              <a:pathLst>
                <a:path h="276860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760" y="2702052"/>
            <a:ext cx="7269480" cy="617220"/>
            <a:chOff x="0" y="0"/>
            <a:chExt cx="969264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6926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93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Picos de acesso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08760" y="3341370"/>
            <a:ext cx="726948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Na Black Friday, muita gente entra ao mesmo tempo e o site pode travar.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8760" y="4232910"/>
            <a:ext cx="726948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Na nuvem: a capacidade cresce sob demanda.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7355" y="2527935"/>
            <a:ext cx="7974330" cy="2487930"/>
            <a:chOff x="0" y="0"/>
            <a:chExt cx="10632440" cy="3317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32440" cy="3317240"/>
            </a:xfrm>
            <a:custGeom>
              <a:avLst/>
              <a:gdLst/>
              <a:ahLst/>
              <a:cxnLst/>
              <a:rect r="r" b="b" t="t" l="l"/>
              <a:pathLst>
                <a:path h="3317240" w="10632440">
                  <a:moveTo>
                    <a:pt x="0" y="276479"/>
                  </a:moveTo>
                  <a:cubicBezTo>
                    <a:pt x="0" y="123698"/>
                    <a:pt x="123698" y="0"/>
                    <a:pt x="276479" y="0"/>
                  </a:cubicBezTo>
                  <a:lnTo>
                    <a:pt x="10355961" y="0"/>
                  </a:lnTo>
                  <a:cubicBezTo>
                    <a:pt x="10508615" y="0"/>
                    <a:pt x="10632440" y="123698"/>
                    <a:pt x="10632440" y="276479"/>
                  </a:cubicBezTo>
                  <a:lnTo>
                    <a:pt x="10632440" y="3040761"/>
                  </a:lnTo>
                  <a:cubicBezTo>
                    <a:pt x="10632440" y="3193415"/>
                    <a:pt x="10508742" y="3317240"/>
                    <a:pt x="10355961" y="3317240"/>
                  </a:cubicBezTo>
                  <a:lnTo>
                    <a:pt x="276479" y="3317240"/>
                  </a:lnTo>
                  <a:cubicBezTo>
                    <a:pt x="123698" y="3317240"/>
                    <a:pt x="0" y="3193542"/>
                    <a:pt x="0" y="3040761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17355" y="2733675"/>
            <a:ext cx="142494" cy="2076450"/>
            <a:chOff x="0" y="0"/>
            <a:chExt cx="189992" cy="2768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9992" cy="2768600"/>
            </a:xfrm>
            <a:custGeom>
              <a:avLst/>
              <a:gdLst/>
              <a:ahLst/>
              <a:cxnLst/>
              <a:rect r="r" b="b" t="t" l="l"/>
              <a:pathLst>
                <a:path h="276860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C2410C"/>
            </a:solidFill>
            <a:ln w="19050" cap="sq">
              <a:solidFill>
                <a:srgbClr val="C2410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38360" y="2702052"/>
            <a:ext cx="7269480" cy="617220"/>
            <a:chOff x="0" y="0"/>
            <a:chExt cx="969264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6926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93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Disponibilidade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38360" y="3341370"/>
            <a:ext cx="726948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 um componente centralizado falha, a loja inteira pode sair do ar.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38360" y="4232910"/>
            <a:ext cx="726948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Na nuvem: duas zonas, e uma assume a outra.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87755" y="5271135"/>
            <a:ext cx="7974330" cy="2487930"/>
            <a:chOff x="0" y="0"/>
            <a:chExt cx="10632440" cy="3317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32440" cy="3317240"/>
            </a:xfrm>
            <a:custGeom>
              <a:avLst/>
              <a:gdLst/>
              <a:ahLst/>
              <a:cxnLst/>
              <a:rect r="r" b="b" t="t" l="l"/>
              <a:pathLst>
                <a:path h="3317240" w="10632440">
                  <a:moveTo>
                    <a:pt x="0" y="276479"/>
                  </a:moveTo>
                  <a:cubicBezTo>
                    <a:pt x="0" y="123698"/>
                    <a:pt x="123698" y="0"/>
                    <a:pt x="276479" y="0"/>
                  </a:cubicBezTo>
                  <a:lnTo>
                    <a:pt x="10355961" y="0"/>
                  </a:lnTo>
                  <a:cubicBezTo>
                    <a:pt x="10508615" y="0"/>
                    <a:pt x="10632440" y="123698"/>
                    <a:pt x="10632440" y="276479"/>
                  </a:cubicBezTo>
                  <a:lnTo>
                    <a:pt x="10632440" y="3040761"/>
                  </a:lnTo>
                  <a:cubicBezTo>
                    <a:pt x="10632440" y="3193415"/>
                    <a:pt x="10508742" y="3317240"/>
                    <a:pt x="10355961" y="3317240"/>
                  </a:cubicBezTo>
                  <a:lnTo>
                    <a:pt x="276479" y="3317240"/>
                  </a:lnTo>
                  <a:cubicBezTo>
                    <a:pt x="123698" y="3317240"/>
                    <a:pt x="0" y="3193542"/>
                    <a:pt x="0" y="3040761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87755" y="5476875"/>
            <a:ext cx="142494" cy="2076450"/>
            <a:chOff x="0" y="0"/>
            <a:chExt cx="189992" cy="2768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9992" cy="2768600"/>
            </a:xfrm>
            <a:custGeom>
              <a:avLst/>
              <a:gdLst/>
              <a:ahLst/>
              <a:cxnLst/>
              <a:rect r="r" b="b" t="t" l="l"/>
              <a:pathLst>
                <a:path h="276860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508760" y="5445252"/>
            <a:ext cx="7269480" cy="617220"/>
            <a:chOff x="0" y="0"/>
            <a:chExt cx="9692640" cy="82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92640" cy="822960"/>
            </a:xfrm>
            <a:custGeom>
              <a:avLst/>
              <a:gdLst/>
              <a:ahLst/>
              <a:cxnLst/>
              <a:rect r="r" b="b" t="t" l="l"/>
              <a:pathLst>
                <a:path h="822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490" r="0" b="-1794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6926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93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Armazenamento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08760" y="6084570"/>
            <a:ext cx="726948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Fotos e vídeos em disco local dificultam expandir e entregar rápido.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08760" y="6976110"/>
            <a:ext cx="726948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Na nuvem: o espaço cresce e a entrega é rápida.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17355" y="5271135"/>
            <a:ext cx="7974330" cy="2487930"/>
            <a:chOff x="0" y="0"/>
            <a:chExt cx="10632440" cy="3317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2440" cy="3317240"/>
            </a:xfrm>
            <a:custGeom>
              <a:avLst/>
              <a:gdLst/>
              <a:ahLst/>
              <a:cxnLst/>
              <a:rect r="r" b="b" t="t" l="l"/>
              <a:pathLst>
                <a:path h="3317240" w="10632440">
                  <a:moveTo>
                    <a:pt x="0" y="276479"/>
                  </a:moveTo>
                  <a:cubicBezTo>
                    <a:pt x="0" y="123698"/>
                    <a:pt x="123698" y="0"/>
                    <a:pt x="276479" y="0"/>
                  </a:cubicBezTo>
                  <a:lnTo>
                    <a:pt x="10355961" y="0"/>
                  </a:lnTo>
                  <a:cubicBezTo>
                    <a:pt x="10508615" y="0"/>
                    <a:pt x="10632440" y="123698"/>
                    <a:pt x="10632440" y="276479"/>
                  </a:cubicBezTo>
                  <a:lnTo>
                    <a:pt x="10632440" y="3040761"/>
                  </a:lnTo>
                  <a:cubicBezTo>
                    <a:pt x="10632440" y="3193415"/>
                    <a:pt x="10508742" y="3317240"/>
                    <a:pt x="10355961" y="3317240"/>
                  </a:cubicBezTo>
                  <a:lnTo>
                    <a:pt x="276479" y="3317240"/>
                  </a:lnTo>
                  <a:cubicBezTo>
                    <a:pt x="123698" y="3317240"/>
                    <a:pt x="0" y="3193542"/>
                    <a:pt x="0" y="3040761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317355" y="5476875"/>
            <a:ext cx="142494" cy="2076450"/>
            <a:chOff x="0" y="0"/>
            <a:chExt cx="189992" cy="2768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9992" cy="2768600"/>
            </a:xfrm>
            <a:custGeom>
              <a:avLst/>
              <a:gdLst/>
              <a:ahLst/>
              <a:cxnLst/>
              <a:rect r="r" b="b" t="t" l="l"/>
              <a:pathLst>
                <a:path h="276860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738360" y="5445252"/>
            <a:ext cx="7269480" cy="704431"/>
            <a:chOff x="0" y="0"/>
            <a:chExt cx="9692640" cy="93924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939241"/>
            </a:xfrm>
            <a:custGeom>
              <a:avLst/>
              <a:gdLst/>
              <a:ahLst/>
              <a:cxnLst/>
              <a:rect r="r" b="b" t="t" l="l"/>
              <a:pathLst>
                <a:path h="939241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39241"/>
                  </a:lnTo>
                  <a:lnTo>
                    <a:pt x="0" y="9392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268" r="0" b="-1448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692640" cy="9773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93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Proteção dos dados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7755" y="8220075"/>
            <a:ext cx="16203930" cy="979170"/>
            <a:chOff x="0" y="0"/>
            <a:chExt cx="21605240" cy="1305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605239" cy="1305560"/>
            </a:xfrm>
            <a:custGeom>
              <a:avLst/>
              <a:gdLst/>
              <a:ahLst/>
              <a:cxnLst/>
              <a:rect r="r" b="b" t="t" l="l"/>
              <a:pathLst>
                <a:path h="1305560" w="21605239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21418677" y="0"/>
                  </a:lnTo>
                  <a:cubicBezTo>
                    <a:pt x="21521674" y="0"/>
                    <a:pt x="21605239" y="83566"/>
                    <a:pt x="21605239" y="186563"/>
                  </a:cubicBezTo>
                  <a:lnTo>
                    <a:pt x="21605239" y="1118997"/>
                  </a:lnTo>
                  <a:cubicBezTo>
                    <a:pt x="21605239" y="1221994"/>
                    <a:pt x="21521674" y="1305560"/>
                    <a:pt x="21418677" y="1305560"/>
                  </a:cubicBezTo>
                  <a:lnTo>
                    <a:pt x="186563" y="1305560"/>
                  </a:lnTo>
                  <a:cubicBezTo>
                    <a:pt x="83566" y="1305560"/>
                    <a:pt x="0" y="1221994"/>
                    <a:pt x="0" y="1118997"/>
                  </a:cubicBez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97280" y="8229600"/>
            <a:ext cx="16184880" cy="960120"/>
            <a:chOff x="0" y="0"/>
            <a:chExt cx="2157984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157984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 desafio: crescer sem comprometer a operação.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6459200" y="9582150"/>
            <a:ext cx="822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38360" y="6084570"/>
            <a:ext cx="726948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ackups mensais manuais aumentam o risco de perda de informações.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38360" y="6976110"/>
            <a:ext cx="72694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D9488"/>
                </a:solidFill>
                <a:latin typeface="Poppins Bold"/>
                <a:ea typeface="Poppins Bold"/>
                <a:cs typeface="Poppins Bold"/>
                <a:sym typeface="Poppins Bold"/>
              </a:rPr>
              <a:t>Na nuvem: os backups são automáticos.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33172" cy="10287000"/>
            <a:chOff x="0" y="0"/>
            <a:chExt cx="31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AutoShape 4" id="4"/>
          <p:cNvSpPr/>
          <p:nvPr/>
        </p:nvSpPr>
        <p:spPr>
          <a:xfrm rot="3060">
            <a:off x="1090136" y="9527857"/>
            <a:ext cx="16199177" cy="0"/>
          </a:xfrm>
          <a:prstGeom prst="line">
            <a:avLst/>
          </a:prstGeom>
          <a:ln cap="rnd" w="9525">
            <a:solidFill>
              <a:srgbClr val="E5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97280" y="960120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VarejoJá • AWS re/Start | Generation Brasil | Grupo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548640"/>
            <a:ext cx="16184880" cy="1097280"/>
            <a:chOff x="0" y="0"/>
            <a:chExt cx="2157984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Migração: do data center para a AWS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9175" y="1773555"/>
            <a:ext cx="12363450" cy="6995398"/>
            <a:chOff x="0" y="0"/>
            <a:chExt cx="16484600" cy="9327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84600" cy="9327134"/>
            </a:xfrm>
            <a:custGeom>
              <a:avLst/>
              <a:gdLst/>
              <a:ahLst/>
              <a:cxnLst/>
              <a:rect r="r" b="b" t="t" l="l"/>
              <a:pathLst>
                <a:path h="9327134" w="164846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6337916" y="0"/>
                  </a:lnTo>
                  <a:cubicBezTo>
                    <a:pt x="16418942" y="0"/>
                    <a:pt x="16484600" y="65659"/>
                    <a:pt x="16484600" y="146685"/>
                  </a:cubicBezTo>
                  <a:lnTo>
                    <a:pt x="16484600" y="9180449"/>
                  </a:lnTo>
                  <a:cubicBezTo>
                    <a:pt x="16484600" y="9261475"/>
                    <a:pt x="16418942" y="9327134"/>
                    <a:pt x="16337916" y="9327134"/>
                  </a:cubicBezTo>
                  <a:lnTo>
                    <a:pt x="146685" y="9327134"/>
                  </a:lnTo>
                  <a:cubicBezTo>
                    <a:pt x="65659" y="9327134"/>
                    <a:pt x="0" y="9261475"/>
                    <a:pt x="0" y="91804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1851660"/>
            <a:ext cx="12207240" cy="6839188"/>
            <a:chOff x="0" y="0"/>
            <a:chExt cx="16276320" cy="9118918"/>
          </a:xfrm>
        </p:grpSpPr>
        <p:sp>
          <p:nvSpPr>
            <p:cNvPr name="Freeform 14" id="14" descr="Migração: do data center para a AWS"/>
            <p:cNvSpPr/>
            <p:nvPr/>
          </p:nvSpPr>
          <p:spPr>
            <a:xfrm flipH="false" flipV="false" rot="0">
              <a:off x="0" y="0"/>
              <a:ext cx="16276320" cy="9118854"/>
            </a:xfrm>
            <a:custGeom>
              <a:avLst/>
              <a:gdLst/>
              <a:ahLst/>
              <a:cxnLst/>
              <a:rect r="r" b="b" t="t" l="l"/>
              <a:pathLst>
                <a:path h="911885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9118854"/>
                  </a:lnTo>
                  <a:lnTo>
                    <a:pt x="0" y="9118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06475" y="1910715"/>
            <a:ext cx="595122" cy="595122"/>
            <a:chOff x="0" y="0"/>
            <a:chExt cx="793496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0" y="1920240"/>
            <a:ext cx="576072" cy="576072"/>
            <a:chOff x="0" y="0"/>
            <a:chExt cx="768096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401800" y="1832610"/>
            <a:ext cx="2880360" cy="237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App da loja → EC2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Reimplantação do back end e do front end.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06475" y="4402455"/>
            <a:ext cx="595122" cy="595122"/>
            <a:chOff x="0" y="0"/>
            <a:chExt cx="793496" cy="7934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0" y="4411980"/>
            <a:ext cx="576072" cy="576072"/>
            <a:chOff x="0" y="0"/>
            <a:chExt cx="768096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401800" y="4324350"/>
            <a:ext cx="2880360" cy="237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Banco legado → RDS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Migrado com o AWS DMS.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706475" y="6894195"/>
            <a:ext cx="595122" cy="595122"/>
            <a:chOff x="0" y="0"/>
            <a:chExt cx="793496" cy="7934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716000" y="6903720"/>
            <a:ext cx="576072" cy="576072"/>
            <a:chOff x="0" y="0"/>
            <a:chExt cx="768096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401800" y="6816090"/>
            <a:ext cx="2880360" cy="237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Mídias → S3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Imagens e vídeos enviados com o AWS DataSync.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582150"/>
            <a:ext cx="822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7118" y="1255400"/>
            <a:ext cx="11690367" cy="8504742"/>
          </a:xfrm>
          <a:custGeom>
            <a:avLst/>
            <a:gdLst/>
            <a:ahLst/>
            <a:cxnLst/>
            <a:rect r="r" b="b" t="t" l="l"/>
            <a:pathLst>
              <a:path h="8504742" w="11690367">
                <a:moveTo>
                  <a:pt x="0" y="0"/>
                </a:moveTo>
                <a:lnTo>
                  <a:pt x="11690368" y="0"/>
                </a:lnTo>
                <a:lnTo>
                  <a:pt x="11690368" y="8504742"/>
                </a:lnTo>
                <a:lnTo>
                  <a:pt x="0" y="8504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rnd">
            <a:solidFill>
              <a:srgbClr val="9C9DA3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92176" cy="10295039"/>
            <a:chOff x="0" y="0"/>
            <a:chExt cx="256235" cy="13726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8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7118" y="9878282"/>
            <a:ext cx="13671861" cy="33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VarejoJá  •  AWS re/Start  |  Generation Brasil  |  Grupo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3796"/>
            <a:ext cx="16417204" cy="70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4353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rquitetura AWS proposta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13372" y="1910715"/>
            <a:ext cx="595122" cy="595122"/>
            <a:chOff x="0" y="0"/>
            <a:chExt cx="793496" cy="7934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422897" y="1920240"/>
            <a:ext cx="576072" cy="576072"/>
            <a:chOff x="0" y="0"/>
            <a:chExt cx="768096" cy="768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108697" y="1832610"/>
            <a:ext cx="3173463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CloudFront + S3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Fotos e vídeos entregues rápido.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413372" y="3779520"/>
            <a:ext cx="595122" cy="595122"/>
            <a:chOff x="0" y="0"/>
            <a:chExt cx="793496" cy="793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2897" y="3789045"/>
            <a:ext cx="576072" cy="576072"/>
            <a:chOff x="0" y="0"/>
            <a:chExt cx="768096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108697" y="3701415"/>
            <a:ext cx="317346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ALB + Auto Scaling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Reparte os clientes; de 4 a 8 servidores EC2.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13372" y="5648325"/>
            <a:ext cx="595122" cy="595122"/>
            <a:chOff x="0" y="0"/>
            <a:chExt cx="793496" cy="7934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422897" y="5657850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108697" y="5570220"/>
            <a:ext cx="3173463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2 zonas + RDS Multi-AZ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 uma cai, a outra assume.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413372" y="7517130"/>
            <a:ext cx="595122" cy="595122"/>
            <a:chOff x="0" y="0"/>
            <a:chExt cx="793496" cy="7934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A580C"/>
            </a:solidFill>
            <a:ln w="19050" cap="sq">
              <a:solidFill>
                <a:srgbClr val="EA580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422897" y="7526655"/>
            <a:ext cx="576072" cy="576072"/>
            <a:chOff x="0" y="0"/>
            <a:chExt cx="768096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108697" y="7439025"/>
            <a:ext cx="3173463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CloudWatch + SNS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Vigia tudo e avisa a equipe.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33172" cy="10287000"/>
            <a:chOff x="0" y="0"/>
            <a:chExt cx="31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AutoShape 4" id="4"/>
          <p:cNvSpPr/>
          <p:nvPr/>
        </p:nvSpPr>
        <p:spPr>
          <a:xfrm rot="3060">
            <a:off x="1090136" y="9527857"/>
            <a:ext cx="16199177" cy="0"/>
          </a:xfrm>
          <a:prstGeom prst="line">
            <a:avLst/>
          </a:prstGeom>
          <a:ln cap="rnd" w="9525">
            <a:solidFill>
              <a:srgbClr val="E5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97280" y="960120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VarejoJá • AWS re/Start | Generation Brasil | Grupo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548640"/>
            <a:ext cx="16184880" cy="1097280"/>
            <a:chOff x="0" y="0"/>
            <a:chExt cx="2157984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 serviços e o problema que cada um resolve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714500"/>
            <a:ext cx="16184880" cy="617220"/>
            <a:chOff x="0" y="0"/>
            <a:chExt cx="2157984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579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Cada peça da arquitetura tem um motivo para estar lá.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7755" y="2527935"/>
            <a:ext cx="5231130" cy="3242310"/>
            <a:chOff x="0" y="0"/>
            <a:chExt cx="6974840" cy="4323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4839" cy="4323080"/>
            </a:xfrm>
            <a:custGeom>
              <a:avLst/>
              <a:gdLst/>
              <a:ahLst/>
              <a:cxnLst/>
              <a:rect r="r" b="b" t="t" l="l"/>
              <a:pathLst>
                <a:path h="4323080" w="6974839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6698869" y="0"/>
                  </a:lnTo>
                  <a:cubicBezTo>
                    <a:pt x="6851269" y="0"/>
                    <a:pt x="6974839" y="123571"/>
                    <a:pt x="6974839" y="275971"/>
                  </a:cubicBezTo>
                  <a:lnTo>
                    <a:pt x="6974839" y="4047109"/>
                  </a:lnTo>
                  <a:cubicBezTo>
                    <a:pt x="6974839" y="4199509"/>
                    <a:pt x="6851269" y="4323080"/>
                    <a:pt x="6698869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87755" y="2733675"/>
            <a:ext cx="142494" cy="2830830"/>
            <a:chOff x="0" y="0"/>
            <a:chExt cx="189992" cy="3774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9992" cy="3774440"/>
            </a:xfrm>
            <a:custGeom>
              <a:avLst/>
              <a:gdLst/>
              <a:ahLst/>
              <a:cxnLst/>
              <a:rect r="r" b="b" t="t" l="l"/>
              <a:pathLst>
                <a:path h="37744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760" y="2743200"/>
            <a:ext cx="4526280" cy="411480"/>
            <a:chOff x="0" y="0"/>
            <a:chExt cx="60350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035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COMPUTAÇÃO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08760" y="3320415"/>
            <a:ext cx="452628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EC2 + Auto Scaling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8760" y="4272915"/>
            <a:ext cx="45262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Picos de acesso: aumenta a quantidade de servidores quando o movimento sobe.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74155" y="2527935"/>
            <a:ext cx="5231130" cy="3242310"/>
            <a:chOff x="0" y="0"/>
            <a:chExt cx="6974840" cy="4323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74839" cy="4323080"/>
            </a:xfrm>
            <a:custGeom>
              <a:avLst/>
              <a:gdLst/>
              <a:ahLst/>
              <a:cxnLst/>
              <a:rect r="r" b="b" t="t" l="l"/>
              <a:pathLst>
                <a:path h="4323080" w="6974839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6698869" y="0"/>
                  </a:lnTo>
                  <a:cubicBezTo>
                    <a:pt x="6851269" y="0"/>
                    <a:pt x="6974839" y="123571"/>
                    <a:pt x="6974839" y="275971"/>
                  </a:cubicBezTo>
                  <a:lnTo>
                    <a:pt x="6974839" y="4047109"/>
                  </a:lnTo>
                  <a:cubicBezTo>
                    <a:pt x="6974839" y="4199509"/>
                    <a:pt x="6851269" y="4323080"/>
                    <a:pt x="6698869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74155" y="2733675"/>
            <a:ext cx="142494" cy="2830830"/>
            <a:chOff x="0" y="0"/>
            <a:chExt cx="189992" cy="3774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9992" cy="3774440"/>
            </a:xfrm>
            <a:custGeom>
              <a:avLst/>
              <a:gdLst/>
              <a:ahLst/>
              <a:cxnLst/>
              <a:rect r="r" b="b" t="t" l="l"/>
              <a:pathLst>
                <a:path h="37744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95160" y="2743200"/>
            <a:ext cx="4526280" cy="411480"/>
            <a:chOff x="0" y="0"/>
            <a:chExt cx="603504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035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E3A8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REDE E DISTRIBUIÇÃO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995160" y="3320415"/>
            <a:ext cx="452628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VPC + ALB + CloudFront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5160" y="4272915"/>
            <a:ext cx="4526280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Reparte os clientes e entrega fotos e vídeos rápido.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060555" y="2527935"/>
            <a:ext cx="5231130" cy="3242310"/>
            <a:chOff x="0" y="0"/>
            <a:chExt cx="6974840" cy="4323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74839" cy="4323080"/>
            </a:xfrm>
            <a:custGeom>
              <a:avLst/>
              <a:gdLst/>
              <a:ahLst/>
              <a:cxnLst/>
              <a:rect r="r" b="b" t="t" l="l"/>
              <a:pathLst>
                <a:path h="4323080" w="6974839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6698869" y="0"/>
                  </a:lnTo>
                  <a:cubicBezTo>
                    <a:pt x="6851269" y="0"/>
                    <a:pt x="6974839" y="123571"/>
                    <a:pt x="6974839" y="275971"/>
                  </a:cubicBezTo>
                  <a:lnTo>
                    <a:pt x="6974839" y="4047109"/>
                  </a:lnTo>
                  <a:cubicBezTo>
                    <a:pt x="6974839" y="4199509"/>
                    <a:pt x="6851269" y="4323080"/>
                    <a:pt x="6698869" y="4323080"/>
                  </a:cubicBezTo>
                  <a:lnTo>
                    <a:pt x="275971" y="4323080"/>
                  </a:lnTo>
                  <a:cubicBezTo>
                    <a:pt x="123571" y="4323080"/>
                    <a:pt x="0" y="4199509"/>
                    <a:pt x="0" y="4047109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060555" y="2733675"/>
            <a:ext cx="142494" cy="2830830"/>
            <a:chOff x="0" y="0"/>
            <a:chExt cx="189992" cy="3774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9992" cy="3774440"/>
            </a:xfrm>
            <a:custGeom>
              <a:avLst/>
              <a:gdLst/>
              <a:ahLst/>
              <a:cxnLst/>
              <a:rect r="r" b="b" t="t" l="l"/>
              <a:pathLst>
                <a:path h="37744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0D9488"/>
            </a:solidFill>
            <a:ln w="1905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481560" y="2743200"/>
            <a:ext cx="4526280" cy="411480"/>
            <a:chOff x="0" y="0"/>
            <a:chExt cx="603504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0350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D948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DADOS E ARMAZENAMENTO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481560" y="3320415"/>
            <a:ext cx="452628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RDS Multi-AZ + ElastiCache + S3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81560" y="4272915"/>
            <a:ext cx="4526280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Banco que não para, consultas rápidas e mídias sem limite.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87755" y="5956935"/>
            <a:ext cx="7974330" cy="2899410"/>
            <a:chOff x="0" y="0"/>
            <a:chExt cx="10632440" cy="3865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24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632440">
                  <a:moveTo>
                    <a:pt x="0" y="276098"/>
                  </a:moveTo>
                  <a:cubicBezTo>
                    <a:pt x="0" y="123571"/>
                    <a:pt x="123571" y="0"/>
                    <a:pt x="276098" y="0"/>
                  </a:cubicBezTo>
                  <a:lnTo>
                    <a:pt x="10356342" y="0"/>
                  </a:lnTo>
                  <a:cubicBezTo>
                    <a:pt x="10508869" y="0"/>
                    <a:pt x="10632440" y="123571"/>
                    <a:pt x="10632440" y="276098"/>
                  </a:cubicBezTo>
                  <a:lnTo>
                    <a:pt x="10632440" y="3589782"/>
                  </a:lnTo>
                  <a:cubicBezTo>
                    <a:pt x="10632440" y="3742309"/>
                    <a:pt x="10508869" y="3865880"/>
                    <a:pt x="10356342" y="3865880"/>
                  </a:cubicBezTo>
                  <a:lnTo>
                    <a:pt x="276098" y="3865880"/>
                  </a:lnTo>
                  <a:cubicBezTo>
                    <a:pt x="123571" y="3865880"/>
                    <a:pt x="0" y="3742309"/>
                    <a:pt x="0" y="3589782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87755" y="6162675"/>
            <a:ext cx="142494" cy="2487930"/>
            <a:chOff x="0" y="0"/>
            <a:chExt cx="189992" cy="3317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9992" cy="3317240"/>
            </a:xfrm>
            <a:custGeom>
              <a:avLst/>
              <a:gdLst/>
              <a:ahLst/>
              <a:cxnLst/>
              <a:rect r="r" b="b" t="t" l="l"/>
              <a:pathLst>
                <a:path h="33172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3317240"/>
                  </a:lnTo>
                  <a:lnTo>
                    <a:pt x="0" y="3317240"/>
                  </a:lnTo>
                  <a:close/>
                </a:path>
              </a:pathLst>
            </a:custGeom>
            <a:solidFill>
              <a:srgbClr val="C2410C"/>
            </a:solidFill>
            <a:ln w="19050" cap="sq">
              <a:solidFill>
                <a:srgbClr val="C2410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508760" y="6172200"/>
            <a:ext cx="7269480" cy="424110"/>
            <a:chOff x="0" y="0"/>
            <a:chExt cx="9692640" cy="565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565480"/>
            </a:xfrm>
            <a:custGeom>
              <a:avLst/>
              <a:gdLst/>
              <a:ahLst/>
              <a:cxnLst/>
              <a:rect r="r" b="b" t="t" l="l"/>
              <a:pathLst>
                <a:path h="5654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65480"/>
                  </a:lnTo>
                  <a:lnTo>
                    <a:pt x="0" y="565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473" r="0" b="-2824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692640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BACKUP</a:t>
              </a:r>
              <a:r>
                <a:rPr lang="en-US" b="true" sz="1725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E RECUPERAÇÃO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08760" y="6633210"/>
            <a:ext cx="72694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RDS Backups + S3 Versioning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8760" y="7534275"/>
            <a:ext cx="72694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Mais proteção, recupera tudo </a:t>
            </a: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em caso de falhas ou exclusões acidentais, reduzindo o risco de perda de dados.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317355" y="5956935"/>
            <a:ext cx="7974330" cy="2899410"/>
            <a:chOff x="0" y="0"/>
            <a:chExt cx="10632440" cy="3865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324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632440">
                  <a:moveTo>
                    <a:pt x="0" y="276098"/>
                  </a:moveTo>
                  <a:cubicBezTo>
                    <a:pt x="0" y="123571"/>
                    <a:pt x="123571" y="0"/>
                    <a:pt x="276098" y="0"/>
                  </a:cubicBezTo>
                  <a:lnTo>
                    <a:pt x="10356342" y="0"/>
                  </a:lnTo>
                  <a:cubicBezTo>
                    <a:pt x="10508869" y="0"/>
                    <a:pt x="10632440" y="123571"/>
                    <a:pt x="10632440" y="276098"/>
                  </a:cubicBezTo>
                  <a:lnTo>
                    <a:pt x="10632440" y="3589782"/>
                  </a:lnTo>
                  <a:cubicBezTo>
                    <a:pt x="10632440" y="3742309"/>
                    <a:pt x="10508869" y="3865880"/>
                    <a:pt x="10356342" y="3865880"/>
                  </a:cubicBezTo>
                  <a:lnTo>
                    <a:pt x="276098" y="3865880"/>
                  </a:lnTo>
                  <a:cubicBezTo>
                    <a:pt x="123571" y="3865880"/>
                    <a:pt x="0" y="3742309"/>
                    <a:pt x="0" y="3589782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317355" y="6162675"/>
            <a:ext cx="142494" cy="2487930"/>
            <a:chOff x="0" y="0"/>
            <a:chExt cx="189992" cy="33172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9992" cy="3317240"/>
            </a:xfrm>
            <a:custGeom>
              <a:avLst/>
              <a:gdLst/>
              <a:ahLst/>
              <a:cxnLst/>
              <a:rect r="r" b="b" t="t" l="l"/>
              <a:pathLst>
                <a:path h="33172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3317240"/>
                  </a:lnTo>
                  <a:lnTo>
                    <a:pt x="0" y="3317240"/>
                  </a:ln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738360" y="6172200"/>
            <a:ext cx="7269480" cy="411480"/>
            <a:chOff x="0" y="0"/>
            <a:chExt cx="969264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692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E3A8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SEGURANÇA E OBSERVABILIDADE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738360" y="6633210"/>
            <a:ext cx="72694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IAM + Security Groups + CloudWatch + SNS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38360" y="7534275"/>
            <a:ext cx="726948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Só entra quem pode, e a equipe é avisada na hora se algo sair do normal.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59200" y="9582150"/>
            <a:ext cx="822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33172" cy="10287000"/>
            <a:chOff x="0" y="0"/>
            <a:chExt cx="31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AutoShape 4" id="4"/>
          <p:cNvSpPr/>
          <p:nvPr/>
        </p:nvSpPr>
        <p:spPr>
          <a:xfrm rot="3060">
            <a:off x="1090136" y="9527857"/>
            <a:ext cx="16199177" cy="0"/>
          </a:xfrm>
          <a:prstGeom prst="line">
            <a:avLst/>
          </a:prstGeom>
          <a:ln cap="rnd" w="9525">
            <a:solidFill>
              <a:srgbClr val="E5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97280" y="960120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VarejoJá • AWS re/Start | Generation Brasil | Grupo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4420" y="548640"/>
            <a:ext cx="16184880" cy="1121283"/>
            <a:chOff x="0" y="0"/>
            <a:chExt cx="21579840" cy="14950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495044"/>
            </a:xfrm>
            <a:custGeom>
              <a:avLst/>
              <a:gdLst/>
              <a:ahLst/>
              <a:cxnLst/>
              <a:rect r="r" b="b" t="t" l="l"/>
              <a:pathLst>
                <a:path h="149504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95044"/>
                  </a:lnTo>
                  <a:lnTo>
                    <a:pt x="0" y="1495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322" r="0" b="-230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154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Custos: estimativa da arquitetura no pico de acesso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4895" y="1699260"/>
            <a:ext cx="16184880" cy="617220"/>
            <a:chOff x="0" y="0"/>
            <a:chExt cx="2157984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579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Região São Paulo, sob demanda, US$ por mês.  O grande pico: uma semana de Black Friday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28700" y="2573655"/>
          <a:ext cx="12068463" cy="4800600"/>
        </p:xfrm>
        <a:graphic>
          <a:graphicData uri="http://schemas.openxmlformats.org/drawingml/2006/table">
            <a:tbl>
              <a:tblPr/>
              <a:tblGrid>
                <a:gridCol w="3416912"/>
                <a:gridCol w="5599930"/>
                <a:gridCol w="1365413"/>
                <a:gridCol w="1686208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Componente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Como calculamos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Normal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Pico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EC2 t3.medium (FrontEnd)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 instâncias × 730 h. Pico: +2 × 168 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2.117,6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2.605,04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EC2 t3.medium (BackEnd)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 instâncias × 730 h. Pico: +2 × 168 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2.117,68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2.605,04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RDS MySQL Multi-AZ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Configuração RDS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× 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 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 + ar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az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8,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8,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CloudFront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Tráfego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mensal.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Pico: +1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por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168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</a:t>
                      </a: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S3 Standard (500 GB)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500 GB × 0,0405/GB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41,13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1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41,13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E293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Total estimado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E293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≈ 4.921,35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E293B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≈ 5.896,07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8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13363863" y="2564130"/>
            <a:ext cx="4476750" cy="1226058"/>
            <a:chOff x="0" y="0"/>
            <a:chExt cx="5969000" cy="16347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69000" cy="1634744"/>
            </a:xfrm>
            <a:custGeom>
              <a:avLst/>
              <a:gdLst/>
              <a:ahLst/>
              <a:cxnLst/>
              <a:rect r="r" b="b" t="t" l="l"/>
              <a:pathLst>
                <a:path h="1634744" w="5969000">
                  <a:moveTo>
                    <a:pt x="0" y="278638"/>
                  </a:moveTo>
                  <a:cubicBezTo>
                    <a:pt x="0" y="124714"/>
                    <a:pt x="124714" y="0"/>
                    <a:pt x="278638" y="0"/>
                  </a:cubicBezTo>
                  <a:lnTo>
                    <a:pt x="5690362" y="0"/>
                  </a:lnTo>
                  <a:cubicBezTo>
                    <a:pt x="5844286" y="0"/>
                    <a:pt x="5969000" y="124714"/>
                    <a:pt x="5969000" y="278638"/>
                  </a:cubicBezTo>
                  <a:lnTo>
                    <a:pt x="5969000" y="1356106"/>
                  </a:lnTo>
                  <a:cubicBezTo>
                    <a:pt x="5969000" y="1510030"/>
                    <a:pt x="5844286" y="1634744"/>
                    <a:pt x="5690362" y="1634744"/>
                  </a:cubicBezTo>
                  <a:lnTo>
                    <a:pt x="278638" y="1634744"/>
                  </a:lnTo>
                  <a:cubicBezTo>
                    <a:pt x="124714" y="1634744"/>
                    <a:pt x="0" y="1510030"/>
                    <a:pt x="0" y="1356106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363863" y="2665095"/>
            <a:ext cx="142494" cy="814578"/>
            <a:chOff x="0" y="0"/>
            <a:chExt cx="189992" cy="1086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9992" cy="1086104"/>
            </a:xfrm>
            <a:custGeom>
              <a:avLst/>
              <a:gdLst/>
              <a:ahLst/>
              <a:cxnLst/>
              <a:rect r="r" b="b" t="t" l="l"/>
              <a:pathLst>
                <a:path h="1086104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C2410C"/>
            </a:solidFill>
            <a:ln w="19050" cap="sq">
              <a:solidFill>
                <a:srgbClr val="C2410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288" y="2613660"/>
            <a:ext cx="3977640" cy="670865"/>
            <a:chOff x="0" y="0"/>
            <a:chExt cx="5303520" cy="8944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3520" cy="894486"/>
            </a:xfrm>
            <a:custGeom>
              <a:avLst/>
              <a:gdLst/>
              <a:ahLst/>
              <a:cxnLst/>
              <a:rect r="r" b="b" t="t" l="l"/>
              <a:pathLst>
                <a:path h="89448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94486"/>
                  </a:lnTo>
                  <a:lnTo>
                    <a:pt x="0" y="894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638" r="0" b="-564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303520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+20%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16288" y="3181350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Pico no pior caso: 8 servidores por 1 semana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63863" y="3935730"/>
            <a:ext cx="4476750" cy="1226058"/>
            <a:chOff x="0" y="0"/>
            <a:chExt cx="5969000" cy="16347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69000" cy="1634744"/>
            </a:xfrm>
            <a:custGeom>
              <a:avLst/>
              <a:gdLst/>
              <a:ahLst/>
              <a:cxnLst/>
              <a:rect r="r" b="b" t="t" l="l"/>
              <a:pathLst>
                <a:path h="1634744" w="5969000">
                  <a:moveTo>
                    <a:pt x="0" y="278638"/>
                  </a:moveTo>
                  <a:cubicBezTo>
                    <a:pt x="0" y="124714"/>
                    <a:pt x="124714" y="0"/>
                    <a:pt x="278638" y="0"/>
                  </a:cubicBezTo>
                  <a:lnTo>
                    <a:pt x="5690362" y="0"/>
                  </a:lnTo>
                  <a:cubicBezTo>
                    <a:pt x="5844286" y="0"/>
                    <a:pt x="5969000" y="124714"/>
                    <a:pt x="5969000" y="278638"/>
                  </a:cubicBezTo>
                  <a:lnTo>
                    <a:pt x="5969000" y="1356106"/>
                  </a:lnTo>
                  <a:cubicBezTo>
                    <a:pt x="5969000" y="1510030"/>
                    <a:pt x="5844286" y="1634744"/>
                    <a:pt x="5690362" y="1634744"/>
                  </a:cubicBezTo>
                  <a:lnTo>
                    <a:pt x="278638" y="1634744"/>
                  </a:lnTo>
                  <a:cubicBezTo>
                    <a:pt x="124714" y="1634744"/>
                    <a:pt x="0" y="1510030"/>
                    <a:pt x="0" y="1356106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63863" y="4036695"/>
            <a:ext cx="142494" cy="814578"/>
            <a:chOff x="0" y="0"/>
            <a:chExt cx="189992" cy="10861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9992" cy="1086104"/>
            </a:xfrm>
            <a:custGeom>
              <a:avLst/>
              <a:gdLst/>
              <a:ahLst/>
              <a:cxnLst/>
              <a:rect r="r" b="b" t="t" l="l"/>
              <a:pathLst>
                <a:path h="1086104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288" y="3994785"/>
            <a:ext cx="3977640" cy="670865"/>
            <a:chOff x="0" y="0"/>
            <a:chExt cx="5303520" cy="8944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3520" cy="894486"/>
            </a:xfrm>
            <a:custGeom>
              <a:avLst/>
              <a:gdLst/>
              <a:ahLst/>
              <a:cxnLst/>
              <a:rect r="r" b="b" t="t" l="l"/>
              <a:pathLst>
                <a:path h="89448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94486"/>
                  </a:lnTo>
                  <a:lnTo>
                    <a:pt x="0" y="894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638" r="0" b="-564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303520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3A8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US$ 8.470,72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716288" y="4562475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Sem Auto Scaling: 8 servidores ligados o mês todo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363863" y="5307330"/>
            <a:ext cx="4476750" cy="1226058"/>
            <a:chOff x="0" y="0"/>
            <a:chExt cx="5969000" cy="16347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69000" cy="1634744"/>
            </a:xfrm>
            <a:custGeom>
              <a:avLst/>
              <a:gdLst/>
              <a:ahLst/>
              <a:cxnLst/>
              <a:rect r="r" b="b" t="t" l="l"/>
              <a:pathLst>
                <a:path h="1634744" w="5969000">
                  <a:moveTo>
                    <a:pt x="0" y="278638"/>
                  </a:moveTo>
                  <a:cubicBezTo>
                    <a:pt x="0" y="124714"/>
                    <a:pt x="124714" y="0"/>
                    <a:pt x="278638" y="0"/>
                  </a:cubicBezTo>
                  <a:lnTo>
                    <a:pt x="5690362" y="0"/>
                  </a:lnTo>
                  <a:cubicBezTo>
                    <a:pt x="5844286" y="0"/>
                    <a:pt x="5969000" y="124714"/>
                    <a:pt x="5969000" y="278638"/>
                  </a:cubicBezTo>
                  <a:lnTo>
                    <a:pt x="5969000" y="1356106"/>
                  </a:lnTo>
                  <a:cubicBezTo>
                    <a:pt x="5969000" y="1510030"/>
                    <a:pt x="5844286" y="1634744"/>
                    <a:pt x="5690362" y="1634744"/>
                  </a:cubicBezTo>
                  <a:lnTo>
                    <a:pt x="278638" y="1634744"/>
                  </a:lnTo>
                  <a:cubicBezTo>
                    <a:pt x="124714" y="1634744"/>
                    <a:pt x="0" y="1510030"/>
                    <a:pt x="0" y="1356106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363863" y="5408295"/>
            <a:ext cx="142494" cy="814578"/>
            <a:chOff x="0" y="0"/>
            <a:chExt cx="189992" cy="10861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9992" cy="1086104"/>
            </a:xfrm>
            <a:custGeom>
              <a:avLst/>
              <a:gdLst/>
              <a:ahLst/>
              <a:cxnLst/>
              <a:rect r="r" b="b" t="t" l="l"/>
              <a:pathLst>
                <a:path h="1086104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0D9488"/>
            </a:solidFill>
            <a:ln w="1905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288" y="5361813"/>
            <a:ext cx="3977640" cy="670865"/>
            <a:chOff x="0" y="0"/>
            <a:chExt cx="5303520" cy="8944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894486"/>
            </a:xfrm>
            <a:custGeom>
              <a:avLst/>
              <a:gdLst/>
              <a:ahLst/>
              <a:cxnLst/>
              <a:rect r="r" b="b" t="t" l="l"/>
              <a:pathLst>
                <a:path h="89448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894486"/>
                  </a:lnTo>
                  <a:lnTo>
                    <a:pt x="0" y="894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638" r="0" b="-564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303520" cy="923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D948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US$ 3.260,65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716288" y="5962269"/>
            <a:ext cx="3977640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Economia no mês de pico (40%)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74420" y="8467725"/>
            <a:ext cx="16184880" cy="707593"/>
            <a:chOff x="0" y="0"/>
            <a:chExt cx="21579840" cy="9434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579839" cy="943458"/>
            </a:xfrm>
            <a:custGeom>
              <a:avLst/>
              <a:gdLst/>
              <a:ahLst/>
              <a:cxnLst/>
              <a:rect r="r" b="b" t="t" l="l"/>
              <a:pathLst>
                <a:path h="94345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43458"/>
                  </a:lnTo>
                  <a:lnTo>
                    <a:pt x="0" y="943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223" r="0" b="-39414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1579840" cy="962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Fora dessa conta (variam com o uso): ALB, ElastiCache, CloudWatch e SNS. Valores estimados na AWS Pricing Calculator.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Os valores da coluna Normal vêm da cotação. Já os valores de Pico são uma simulação condicional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6459200" y="9582150"/>
            <a:ext cx="822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33172" cy="10287000"/>
            <a:chOff x="0" y="0"/>
            <a:chExt cx="31089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89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AutoShape 4" id="4"/>
          <p:cNvSpPr/>
          <p:nvPr/>
        </p:nvSpPr>
        <p:spPr>
          <a:xfrm rot="3060">
            <a:off x="1090136" y="9527857"/>
            <a:ext cx="16199177" cy="0"/>
          </a:xfrm>
          <a:prstGeom prst="line">
            <a:avLst/>
          </a:prstGeom>
          <a:ln cap="rnd" w="9525">
            <a:solidFill>
              <a:srgbClr val="E5E7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97280" y="960120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VarejoJá • AWS re/Start | Generation Brasil | Grupo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548640"/>
            <a:ext cx="16184880" cy="1097280"/>
            <a:chOff x="0" y="0"/>
            <a:chExt cx="2157984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 sazonais: o problema e a solução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668780"/>
            <a:ext cx="16184880" cy="617220"/>
            <a:chOff x="0" y="0"/>
            <a:chExt cx="2157984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79839" cy="822960"/>
            </a:xfrm>
            <a:custGeom>
              <a:avLst/>
              <a:gdLst/>
              <a:ahLst/>
              <a:cxnLst/>
              <a:rect r="r" b="b" t="t" l="l"/>
              <a:pathLst>
                <a:path h="822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940" r="0" b="-460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579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Calendário 2026. Próxima grande data: Black Friday, 27/11.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7755" y="2390775"/>
            <a:ext cx="2487930" cy="1184910"/>
            <a:chOff x="0" y="0"/>
            <a:chExt cx="3317240" cy="1579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17240" cy="1579753"/>
            </a:xfrm>
            <a:custGeom>
              <a:avLst/>
              <a:gdLst/>
              <a:ahLst/>
              <a:cxnLst/>
              <a:rect r="r" b="b" t="t" l="l"/>
              <a:pathLst>
                <a:path h="1579753" w="3317240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3094228" y="0"/>
                  </a:lnTo>
                  <a:cubicBezTo>
                    <a:pt x="3217418" y="0"/>
                    <a:pt x="3317240" y="99822"/>
                    <a:pt x="3317240" y="223012"/>
                  </a:cubicBezTo>
                  <a:lnTo>
                    <a:pt x="3317240" y="1356741"/>
                  </a:lnTo>
                  <a:cubicBezTo>
                    <a:pt x="3317240" y="1479931"/>
                    <a:pt x="3217418" y="1579753"/>
                    <a:pt x="3094228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2400300"/>
            <a:ext cx="2331720" cy="1165860"/>
            <a:chOff x="0" y="0"/>
            <a:chExt cx="310896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1089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10/05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Dia das Mães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30955" y="2390775"/>
            <a:ext cx="2487930" cy="1184910"/>
            <a:chOff x="0" y="0"/>
            <a:chExt cx="3317240" cy="1579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17240" cy="1579753"/>
            </a:xfrm>
            <a:custGeom>
              <a:avLst/>
              <a:gdLst/>
              <a:ahLst/>
              <a:cxnLst/>
              <a:rect r="r" b="b" t="t" l="l"/>
              <a:pathLst>
                <a:path h="1579753" w="3317240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3094228" y="0"/>
                  </a:lnTo>
                  <a:cubicBezTo>
                    <a:pt x="3217418" y="0"/>
                    <a:pt x="3317240" y="99822"/>
                    <a:pt x="3317240" y="223012"/>
                  </a:cubicBezTo>
                  <a:lnTo>
                    <a:pt x="3317240" y="1356741"/>
                  </a:lnTo>
                  <a:cubicBezTo>
                    <a:pt x="3317240" y="1479931"/>
                    <a:pt x="3217418" y="1579753"/>
                    <a:pt x="3094228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909060" y="2400300"/>
            <a:ext cx="2331720" cy="1165860"/>
            <a:chOff x="0" y="0"/>
            <a:chExt cx="310896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1089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12/06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Dia dos Namorados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74155" y="2390775"/>
            <a:ext cx="2487930" cy="1184910"/>
            <a:chOff x="0" y="0"/>
            <a:chExt cx="3317240" cy="1579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17240" cy="1579753"/>
            </a:xfrm>
            <a:custGeom>
              <a:avLst/>
              <a:gdLst/>
              <a:ahLst/>
              <a:cxnLst/>
              <a:rect r="r" b="b" t="t" l="l"/>
              <a:pathLst>
                <a:path h="1579753" w="3317240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3094228" y="0"/>
                  </a:lnTo>
                  <a:cubicBezTo>
                    <a:pt x="3217418" y="0"/>
                    <a:pt x="3317240" y="99822"/>
                    <a:pt x="3317240" y="223012"/>
                  </a:cubicBezTo>
                  <a:lnTo>
                    <a:pt x="3317240" y="1356741"/>
                  </a:lnTo>
                  <a:cubicBezTo>
                    <a:pt x="3317240" y="1479931"/>
                    <a:pt x="3217418" y="1579753"/>
                    <a:pt x="3094228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652260" y="2400300"/>
            <a:ext cx="2331720" cy="1165860"/>
            <a:chOff x="0" y="0"/>
            <a:chExt cx="310896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1089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09/08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Dia dos Pais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17355" y="2390775"/>
            <a:ext cx="2487930" cy="1184910"/>
            <a:chOff x="0" y="0"/>
            <a:chExt cx="3317240" cy="1579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17240" cy="1579753"/>
            </a:xfrm>
            <a:custGeom>
              <a:avLst/>
              <a:gdLst/>
              <a:ahLst/>
              <a:cxnLst/>
              <a:rect r="r" b="b" t="t" l="l"/>
              <a:pathLst>
                <a:path h="1579753" w="3317240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3094228" y="0"/>
                  </a:lnTo>
                  <a:cubicBezTo>
                    <a:pt x="3217418" y="0"/>
                    <a:pt x="3317240" y="99822"/>
                    <a:pt x="3317240" y="223012"/>
                  </a:cubicBezTo>
                  <a:lnTo>
                    <a:pt x="3317240" y="1356741"/>
                  </a:lnTo>
                  <a:cubicBezTo>
                    <a:pt x="3317240" y="1479931"/>
                    <a:pt x="3217418" y="1579753"/>
                    <a:pt x="3094228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395460" y="2400300"/>
            <a:ext cx="2331720" cy="1165860"/>
            <a:chOff x="0" y="0"/>
            <a:chExt cx="310896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1089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12/10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Dia das Crianças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60555" y="2390775"/>
            <a:ext cx="2487930" cy="1184910"/>
            <a:chOff x="0" y="0"/>
            <a:chExt cx="3317240" cy="1579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17240" cy="1579753"/>
            </a:xfrm>
            <a:custGeom>
              <a:avLst/>
              <a:gdLst/>
              <a:ahLst/>
              <a:cxnLst/>
              <a:rect r="r" b="b" t="t" l="l"/>
              <a:pathLst>
                <a:path h="1579753" w="3317240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3094228" y="0"/>
                  </a:lnTo>
                  <a:cubicBezTo>
                    <a:pt x="3217418" y="0"/>
                    <a:pt x="3317240" y="99822"/>
                    <a:pt x="3317240" y="223012"/>
                  </a:cubicBezTo>
                  <a:lnTo>
                    <a:pt x="3317240" y="1356741"/>
                  </a:lnTo>
                  <a:cubicBezTo>
                    <a:pt x="3317240" y="1479931"/>
                    <a:pt x="3217418" y="1579753"/>
                    <a:pt x="3094228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C2410C"/>
            </a:solidFill>
            <a:ln w="19050" cap="sq">
              <a:solidFill>
                <a:srgbClr val="C2410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138660" y="2400300"/>
            <a:ext cx="2331720" cy="1165860"/>
            <a:chOff x="0" y="0"/>
            <a:chExt cx="310896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1089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27/11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Black Friday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03755" y="2390775"/>
            <a:ext cx="2487930" cy="1184910"/>
            <a:chOff x="0" y="0"/>
            <a:chExt cx="3317240" cy="1579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17240" cy="1579753"/>
            </a:xfrm>
            <a:custGeom>
              <a:avLst/>
              <a:gdLst/>
              <a:ahLst/>
              <a:cxnLst/>
              <a:rect r="r" b="b" t="t" l="l"/>
              <a:pathLst>
                <a:path h="1579753" w="3317240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3094228" y="0"/>
                  </a:lnTo>
                  <a:cubicBezTo>
                    <a:pt x="3217418" y="0"/>
                    <a:pt x="3317240" y="99822"/>
                    <a:pt x="3317240" y="223012"/>
                  </a:cubicBezTo>
                  <a:lnTo>
                    <a:pt x="3317240" y="1356741"/>
                  </a:lnTo>
                  <a:cubicBezTo>
                    <a:pt x="3317240" y="1479931"/>
                    <a:pt x="3217418" y="1579753"/>
                    <a:pt x="3094228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C2410C"/>
            </a:solidFill>
            <a:ln w="19050" cap="sq">
              <a:solidFill>
                <a:srgbClr val="C2410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881860" y="2400300"/>
            <a:ext cx="2331720" cy="1165860"/>
            <a:chOff x="0" y="0"/>
            <a:chExt cx="3108960" cy="1554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1089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25/12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Natal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87755" y="3830955"/>
            <a:ext cx="7700010" cy="3996690"/>
            <a:chOff x="0" y="0"/>
            <a:chExt cx="10266680" cy="5328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66680" cy="5328920"/>
            </a:xfrm>
            <a:custGeom>
              <a:avLst/>
              <a:gdLst/>
              <a:ahLst/>
              <a:cxnLst/>
              <a:rect r="r" b="b" t="t" l="l"/>
              <a:pathLst>
                <a:path h="5328920" w="10266680">
                  <a:moveTo>
                    <a:pt x="0" y="275590"/>
                  </a:moveTo>
                  <a:cubicBezTo>
                    <a:pt x="0" y="123444"/>
                    <a:pt x="123444" y="0"/>
                    <a:pt x="275590" y="0"/>
                  </a:cubicBezTo>
                  <a:lnTo>
                    <a:pt x="9991090" y="0"/>
                  </a:lnTo>
                  <a:cubicBezTo>
                    <a:pt x="10143363" y="0"/>
                    <a:pt x="10266680" y="123444"/>
                    <a:pt x="10266680" y="275590"/>
                  </a:cubicBezTo>
                  <a:lnTo>
                    <a:pt x="10266680" y="5053330"/>
                  </a:lnTo>
                  <a:cubicBezTo>
                    <a:pt x="10266680" y="5205603"/>
                    <a:pt x="10143236" y="5328920"/>
                    <a:pt x="9991090" y="5328920"/>
                  </a:cubicBezTo>
                  <a:lnTo>
                    <a:pt x="275590" y="5328920"/>
                  </a:lnTo>
                  <a:cubicBezTo>
                    <a:pt x="123444" y="5328920"/>
                    <a:pt x="0" y="5205476"/>
                    <a:pt x="0" y="5053330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87755" y="4036695"/>
            <a:ext cx="142494" cy="3585210"/>
            <a:chOff x="0" y="0"/>
            <a:chExt cx="189992" cy="4780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9992" cy="4780280"/>
            </a:xfrm>
            <a:custGeom>
              <a:avLst/>
              <a:gdLst/>
              <a:ahLst/>
              <a:cxnLst/>
              <a:rect r="r" b="b" t="t" l="l"/>
              <a:pathLst>
                <a:path h="478028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C2410C"/>
            </a:solidFill>
            <a:ln w="19050" cap="sq">
              <a:solidFill>
                <a:srgbClr val="C2410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043035" y="3830955"/>
            <a:ext cx="8248650" cy="3996690"/>
            <a:chOff x="0" y="0"/>
            <a:chExt cx="10998200" cy="5328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98200" cy="5328920"/>
            </a:xfrm>
            <a:custGeom>
              <a:avLst/>
              <a:gdLst/>
              <a:ahLst/>
              <a:cxnLst/>
              <a:rect r="r" b="b" t="t" l="l"/>
              <a:pathLst>
                <a:path h="5328920" w="10998200">
                  <a:moveTo>
                    <a:pt x="0" y="275590"/>
                  </a:moveTo>
                  <a:cubicBezTo>
                    <a:pt x="0" y="123444"/>
                    <a:pt x="123444" y="0"/>
                    <a:pt x="275590" y="0"/>
                  </a:cubicBezTo>
                  <a:lnTo>
                    <a:pt x="10722610" y="0"/>
                  </a:lnTo>
                  <a:cubicBezTo>
                    <a:pt x="10874756" y="0"/>
                    <a:pt x="10998200" y="123444"/>
                    <a:pt x="10998200" y="275590"/>
                  </a:cubicBezTo>
                  <a:lnTo>
                    <a:pt x="10998200" y="5053330"/>
                  </a:lnTo>
                  <a:cubicBezTo>
                    <a:pt x="10998200" y="5205603"/>
                    <a:pt x="10874756" y="5328920"/>
                    <a:pt x="10722610" y="5328920"/>
                  </a:cubicBezTo>
                  <a:lnTo>
                    <a:pt x="275590" y="5328920"/>
                  </a:lnTo>
                  <a:cubicBezTo>
                    <a:pt x="123444" y="5328920"/>
                    <a:pt x="0" y="5205476"/>
                    <a:pt x="0" y="5053330"/>
                  </a:cubicBezTo>
                  <a:close/>
                </a:path>
              </a:pathLst>
            </a:custGeom>
            <a:solidFill>
              <a:srgbClr val="F3F4F6"/>
            </a:solidFill>
            <a:ln w="19050" cap="sq">
              <a:solidFill>
                <a:srgbClr val="F3F4F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043035" y="4036695"/>
            <a:ext cx="142494" cy="3585210"/>
            <a:chOff x="0" y="0"/>
            <a:chExt cx="189992" cy="4780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9992" cy="4780280"/>
            </a:xfrm>
            <a:custGeom>
              <a:avLst/>
              <a:gdLst/>
              <a:ahLst/>
              <a:cxnLst/>
              <a:rect r="r" b="b" t="t" l="l"/>
              <a:pathLst>
                <a:path h="478028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0D9488"/>
            </a:solidFill>
            <a:ln w="1905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40180" y="3977640"/>
            <a:ext cx="7132320" cy="411480"/>
            <a:chOff x="0" y="0"/>
            <a:chExt cx="950976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9509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40180" y="4341495"/>
            <a:ext cx="7132320" cy="891312"/>
            <a:chOff x="0" y="0"/>
            <a:chExt cx="9509760" cy="11884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509760" cy="1188416"/>
            </a:xfrm>
            <a:custGeom>
              <a:avLst/>
              <a:gdLst/>
              <a:ahLst/>
              <a:cxnLst/>
              <a:rect r="r" b="b" t="t" l="l"/>
              <a:pathLst>
                <a:path h="11884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188416"/>
                  </a:lnTo>
                  <a:lnTo>
                    <a:pt x="0" y="1188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01" r="0" b="-9823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509760" cy="1226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948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2.000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40180" y="4999673"/>
            <a:ext cx="7132320" cy="548640"/>
            <a:chOff x="0" y="0"/>
            <a:chExt cx="950976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509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acessos simultâneos num dia comum = 2 servidores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40180" y="5721668"/>
            <a:ext cx="7132320" cy="891312"/>
            <a:chOff x="0" y="0"/>
            <a:chExt cx="9509760" cy="11884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09760" cy="1188416"/>
            </a:xfrm>
            <a:custGeom>
              <a:avLst/>
              <a:gdLst/>
              <a:ahLst/>
              <a:cxnLst/>
              <a:rect r="r" b="b" t="t" l="l"/>
              <a:pathLst>
                <a:path h="11884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188416"/>
                  </a:lnTo>
                  <a:lnTo>
                    <a:pt x="0" y="1188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01" r="0" b="-9823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509760" cy="1226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C241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 a 12 mil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40180" y="6452235"/>
            <a:ext cx="7132320" cy="707593"/>
            <a:chOff x="0" y="0"/>
            <a:chExt cx="9509760" cy="94345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09760" cy="943458"/>
            </a:xfrm>
            <a:custGeom>
              <a:avLst/>
              <a:gdLst/>
              <a:ahLst/>
              <a:cxnLst/>
              <a:rect r="r" b="b" t="t" l="l"/>
              <a:pathLst>
                <a:path h="94345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43458"/>
                  </a:lnTo>
                  <a:lnTo>
                    <a:pt x="0" y="943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789" r="0" b="-14001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9509760" cy="962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acessos </a:t>
              </a:r>
              <a:r>
                <a:rPr lang="en-US" sz="18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simultâneos na Black Friday e no Natal (5 a 6×)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40180" y="7250430"/>
            <a:ext cx="7132320" cy="480060"/>
            <a:chOff x="0" y="0"/>
            <a:chExt cx="950976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95097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>
                  <a:solidFill>
                    <a:srgbClr val="4755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 só 2 a 4 servidores fixos, o site travaria.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95460" y="3977640"/>
            <a:ext cx="7680960" cy="411480"/>
            <a:chOff x="0" y="0"/>
            <a:chExt cx="1024128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948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SOLUÇÃO PENSADA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395460" y="4640580"/>
            <a:ext cx="7680960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93444"/>
                </a:solidFill>
                <a:latin typeface="Poppins Bold"/>
                <a:ea typeface="Poppins Bold"/>
                <a:cs typeface="Poppins Bold"/>
                <a:sym typeface="Poppins Bold"/>
              </a:rPr>
              <a:t>• </a:t>
            </a:r>
            <a:r>
              <a:rPr lang="en-US" b="true" sz="2199">
                <a:solidFill>
                  <a:srgbClr val="293444"/>
                </a:solidFill>
                <a:latin typeface="Poppins Bold"/>
                <a:ea typeface="Poppins Bold"/>
                <a:cs typeface="Poppins Bold"/>
                <a:sym typeface="Poppins Bold"/>
              </a:rPr>
              <a:t>Auto Scaling: </a:t>
            </a:r>
            <a:r>
              <a:rPr lang="en-US" sz="2199">
                <a:solidFill>
                  <a:srgbClr val="293444"/>
                </a:solidFill>
                <a:latin typeface="Poppins"/>
                <a:ea typeface="Poppins"/>
                <a:cs typeface="Poppins"/>
                <a:sym typeface="Poppins"/>
              </a:rPr>
              <a:t>de 4 instâncias (2 front + 2 back) para até 8 EC2 no pico.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93444"/>
                </a:solidFill>
                <a:latin typeface="Poppins Bold"/>
                <a:ea typeface="Poppins Bold"/>
                <a:cs typeface="Poppins Bold"/>
                <a:sym typeface="Poppins Bold"/>
              </a:rPr>
              <a:t>• </a:t>
            </a:r>
            <a:r>
              <a:rPr lang="en-US" b="true" sz="2199">
                <a:solidFill>
                  <a:srgbClr val="293444"/>
                </a:solidFill>
                <a:latin typeface="Poppins Bold"/>
                <a:ea typeface="Poppins Bold"/>
                <a:cs typeface="Poppins Bold"/>
                <a:sym typeface="Poppins Bold"/>
              </a:rPr>
              <a:t>CloudFront e ElastiCache</a:t>
            </a:r>
            <a:r>
              <a:rPr lang="en-US" sz="2199">
                <a:solidFill>
                  <a:srgbClr val="2934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>
                <a:solidFill>
                  <a:srgbClr val="293444"/>
                </a:solidFill>
                <a:latin typeface="Poppins"/>
                <a:ea typeface="Poppins"/>
                <a:cs typeface="Poppins"/>
                <a:sym typeface="Poppins"/>
              </a:rPr>
              <a:t>ajudam a reduzir a carga e deixam o site mais rápido.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93444"/>
                </a:solidFill>
                <a:latin typeface="Poppins Bold"/>
                <a:ea typeface="Poppins Bold"/>
                <a:cs typeface="Poppins Bold"/>
                <a:sym typeface="Poppins Bold"/>
              </a:rPr>
              <a:t>•</a:t>
            </a:r>
            <a:r>
              <a:rPr lang="en-US" sz="2199">
                <a:solidFill>
                  <a:srgbClr val="2934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199">
                <a:solidFill>
                  <a:srgbClr val="293444"/>
                </a:solidFill>
                <a:latin typeface="Poppins Bold"/>
                <a:ea typeface="Poppins Bold"/>
                <a:cs typeface="Poppins Bold"/>
                <a:sym typeface="Poppins Bold"/>
              </a:rPr>
              <a:t>Passado o pico: </a:t>
            </a:r>
            <a:r>
              <a:rPr lang="en-US" sz="2199">
                <a:solidFill>
                  <a:srgbClr val="293444"/>
                </a:solidFill>
                <a:latin typeface="Poppins"/>
                <a:ea typeface="Poppins"/>
                <a:cs typeface="Poppins"/>
                <a:sym typeface="Poppins"/>
              </a:rPr>
              <a:t>volta para 2 servidores, o custo cai e evita gasto desnecessário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459200" y="9582150"/>
            <a:ext cx="8229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043235" y="8530780"/>
            <a:ext cx="16197539" cy="727520"/>
            <a:chOff x="0" y="0"/>
            <a:chExt cx="21596718" cy="97002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596857" cy="970026"/>
            </a:xfrm>
            <a:custGeom>
              <a:avLst/>
              <a:gdLst/>
              <a:ahLst/>
              <a:cxnLst/>
              <a:rect r="r" b="b" t="t" l="l"/>
              <a:pathLst>
                <a:path h="970026" w="21596857">
                  <a:moveTo>
                    <a:pt x="0" y="116459"/>
                  </a:moveTo>
                  <a:cubicBezTo>
                    <a:pt x="0" y="52070"/>
                    <a:pt x="52070" y="0"/>
                    <a:pt x="116459" y="0"/>
                  </a:cubicBezTo>
                  <a:lnTo>
                    <a:pt x="21480399" y="0"/>
                  </a:lnTo>
                  <a:cubicBezTo>
                    <a:pt x="21544660" y="0"/>
                    <a:pt x="21596857" y="52070"/>
                    <a:pt x="21596857" y="116459"/>
                  </a:cubicBezTo>
                  <a:lnTo>
                    <a:pt x="21596857" y="853567"/>
                  </a:lnTo>
                  <a:cubicBezTo>
                    <a:pt x="21596857" y="917829"/>
                    <a:pt x="21544787" y="970026"/>
                    <a:pt x="21480399" y="970026"/>
                  </a:cubicBezTo>
                  <a:lnTo>
                    <a:pt x="116459" y="970026"/>
                  </a:lnTo>
                  <a:cubicBezTo>
                    <a:pt x="52070" y="970026"/>
                    <a:pt x="0" y="917956"/>
                    <a:pt x="0" y="853567"/>
                  </a:cubicBezTo>
                  <a:close/>
                </a:path>
              </a:pathLst>
            </a:custGeom>
            <a:solidFill>
              <a:srgbClr val="EBF3F2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17765" y="8695506"/>
            <a:ext cx="15648470" cy="39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09789"/>
                </a:solidFill>
                <a:latin typeface="Aptos Bold"/>
                <a:ea typeface="Aptos Bold"/>
                <a:cs typeface="Aptos Bold"/>
                <a:sym typeface="Aptos Bold"/>
              </a:rPr>
              <a:t>OTIMIZAÇÃO DE CUSTOS  •  Escalar só na semana de maior movimento, em vez de manter 8 instâncias o mês inteiro.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41771" y="7951470"/>
            <a:ext cx="161975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77995"/>
                </a:solidFill>
                <a:latin typeface="Aptos"/>
                <a:ea typeface="Aptos"/>
                <a:cs typeface="Aptos"/>
                <a:sym typeface="Aptos"/>
              </a:rPr>
              <a:t>Cenário ilustrativo: 1 instância ≈ 1.000 acessos simultâneos. O limite de 8 EC2 é a capacidade proposta, mas não garantia de suportar 12 mil acessos.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9627" cy="10295039"/>
            <a:chOff x="0" y="0"/>
            <a:chExt cx="29283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8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3710" y="565880"/>
            <a:ext cx="1633480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C23A07"/>
                </a:solidFill>
                <a:latin typeface="Poppins Bold"/>
                <a:ea typeface="Poppins Bold"/>
                <a:cs typeface="Poppins Bold"/>
                <a:sym typeface="Poppins Bold"/>
              </a:rPr>
              <a:t>O que vem depois: evolução da arquitetura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151" y="1509941"/>
            <a:ext cx="1619753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677995"/>
                </a:solidFill>
                <a:latin typeface="Aptos"/>
                <a:ea typeface="Aptos"/>
                <a:cs typeface="Aptos"/>
                <a:sym typeface="Aptos"/>
              </a:rPr>
              <a:t>Próximos passos para deixar a VarejoJá ainda mais preparada para encarar qualquer desafio.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3235" y="9691068"/>
            <a:ext cx="16197539" cy="16469"/>
            <a:chOff x="0" y="0"/>
            <a:chExt cx="21596718" cy="219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6731" cy="21971"/>
            </a:xfrm>
            <a:custGeom>
              <a:avLst/>
              <a:gdLst/>
              <a:ahLst/>
              <a:cxnLst/>
              <a:rect r="r" b="b" t="t" l="l"/>
              <a:pathLst>
                <a:path h="21971" w="21596731">
                  <a:moveTo>
                    <a:pt x="0" y="0"/>
                  </a:moveTo>
                  <a:lnTo>
                    <a:pt x="21596731" y="0"/>
                  </a:lnTo>
                  <a:lnTo>
                    <a:pt x="21596731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DEE2E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3235" y="9777632"/>
            <a:ext cx="12354049" cy="28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995"/>
                </a:solidFill>
                <a:latin typeface="Aptos"/>
                <a:ea typeface="Aptos"/>
                <a:cs typeface="Aptos"/>
                <a:sym typeface="Aptos"/>
              </a:rPr>
              <a:t>VarejoJá • AWS re/Start | Generation Brasil | Grupo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40705" y="9773431"/>
            <a:ext cx="658882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C23A07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3235" y="2429627"/>
            <a:ext cx="7934049" cy="2415902"/>
            <a:chOff x="0" y="0"/>
            <a:chExt cx="10578732" cy="32212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78846" cy="3221228"/>
            </a:xfrm>
            <a:custGeom>
              <a:avLst/>
              <a:gdLst/>
              <a:ahLst/>
              <a:cxnLst/>
              <a:rect r="r" b="b" t="t" l="l"/>
              <a:pathLst>
                <a:path h="3221228" w="10578846">
                  <a:moveTo>
                    <a:pt x="0" y="386588"/>
                  </a:moveTo>
                  <a:cubicBezTo>
                    <a:pt x="0" y="173101"/>
                    <a:pt x="173101" y="0"/>
                    <a:pt x="386588" y="0"/>
                  </a:cubicBezTo>
                  <a:lnTo>
                    <a:pt x="10192258" y="0"/>
                  </a:lnTo>
                  <a:cubicBezTo>
                    <a:pt x="10405745" y="0"/>
                    <a:pt x="10578846" y="173101"/>
                    <a:pt x="10578846" y="386588"/>
                  </a:cubicBezTo>
                  <a:lnTo>
                    <a:pt x="10578846" y="2834640"/>
                  </a:lnTo>
                  <a:cubicBezTo>
                    <a:pt x="10578846" y="3048127"/>
                    <a:pt x="10405745" y="3221228"/>
                    <a:pt x="10192258" y="3221228"/>
                  </a:cubicBezTo>
                  <a:lnTo>
                    <a:pt x="386588" y="3221228"/>
                  </a:lnTo>
                  <a:cubicBezTo>
                    <a:pt x="173101" y="3221228"/>
                    <a:pt x="0" y="3048127"/>
                    <a:pt x="0" y="28346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3235" y="2429627"/>
            <a:ext cx="137265" cy="2415902"/>
            <a:chOff x="0" y="0"/>
            <a:chExt cx="183020" cy="3221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007" cy="3221228"/>
            </a:xfrm>
            <a:custGeom>
              <a:avLst/>
              <a:gdLst/>
              <a:ahLst/>
              <a:cxnLst/>
              <a:rect r="r" b="b" t="t" l="l"/>
              <a:pathLst>
                <a:path h="32212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C23A0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13853" y="2694642"/>
            <a:ext cx="711044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730" b="true">
                <a:solidFill>
                  <a:srgbClr val="C23A07"/>
                </a:solidFill>
                <a:latin typeface="Poppins Bold"/>
                <a:ea typeface="Poppins Bold"/>
                <a:cs typeface="Poppins Bold"/>
                <a:sym typeface="Poppins Bold"/>
              </a:rPr>
              <a:t>RECUPERAÇÃO DE DESASTRES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3853" y="3184598"/>
            <a:ext cx="708299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22C40"/>
                </a:solidFill>
                <a:latin typeface="Poppins Bold"/>
                <a:ea typeface="Poppins Bold"/>
                <a:cs typeface="Poppins Bold"/>
                <a:sym typeface="Poppins Bold"/>
              </a:rPr>
              <a:t>Plano de DR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3853" y="3810705"/>
            <a:ext cx="70280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995"/>
                </a:solidFill>
                <a:latin typeface="Poppins"/>
                <a:ea typeface="Poppins"/>
                <a:cs typeface="Poppins"/>
                <a:sym typeface="Poppins"/>
              </a:rPr>
              <a:t>Definir RTO e RPO, testar restauração de backups e planejar recuperação em outra região.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79265" y="2429627"/>
            <a:ext cx="7934049" cy="2415902"/>
            <a:chOff x="0" y="0"/>
            <a:chExt cx="10578732" cy="32212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78846" cy="3221228"/>
            </a:xfrm>
            <a:custGeom>
              <a:avLst/>
              <a:gdLst/>
              <a:ahLst/>
              <a:cxnLst/>
              <a:rect r="r" b="b" t="t" l="l"/>
              <a:pathLst>
                <a:path h="3221228" w="10578846">
                  <a:moveTo>
                    <a:pt x="0" y="386588"/>
                  </a:moveTo>
                  <a:cubicBezTo>
                    <a:pt x="0" y="173101"/>
                    <a:pt x="173101" y="0"/>
                    <a:pt x="386588" y="0"/>
                  </a:cubicBezTo>
                  <a:lnTo>
                    <a:pt x="10192258" y="0"/>
                  </a:lnTo>
                  <a:cubicBezTo>
                    <a:pt x="10405745" y="0"/>
                    <a:pt x="10578846" y="173101"/>
                    <a:pt x="10578846" y="386588"/>
                  </a:cubicBezTo>
                  <a:lnTo>
                    <a:pt x="10578846" y="2834640"/>
                  </a:lnTo>
                  <a:cubicBezTo>
                    <a:pt x="10578846" y="3048127"/>
                    <a:pt x="10405745" y="3221228"/>
                    <a:pt x="10192258" y="3221228"/>
                  </a:cubicBezTo>
                  <a:lnTo>
                    <a:pt x="386588" y="3221228"/>
                  </a:lnTo>
                  <a:cubicBezTo>
                    <a:pt x="173101" y="3221228"/>
                    <a:pt x="0" y="3048127"/>
                    <a:pt x="0" y="28346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79265" y="2429627"/>
            <a:ext cx="137265" cy="2415902"/>
            <a:chOff x="0" y="0"/>
            <a:chExt cx="183020" cy="3221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007" cy="3221228"/>
            </a:xfrm>
            <a:custGeom>
              <a:avLst/>
              <a:gdLst/>
              <a:ahLst/>
              <a:cxnLst/>
              <a:rect r="r" b="b" t="t" l="l"/>
              <a:pathLst>
                <a:path h="32212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22367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49882" y="2694642"/>
            <a:ext cx="711044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730" b="true">
                <a:solidFill>
                  <a:srgbClr val="22367E"/>
                </a:solidFill>
                <a:latin typeface="Poppins Bold"/>
                <a:ea typeface="Poppins Bold"/>
                <a:cs typeface="Poppins Bold"/>
                <a:sym typeface="Poppins Bold"/>
              </a:rPr>
              <a:t>INFRAESTRUTURA COMO CÓDIGO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49882" y="3184598"/>
            <a:ext cx="708299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22C40"/>
                </a:solidFill>
                <a:latin typeface="Poppins Bold"/>
                <a:ea typeface="Poppins Bold"/>
                <a:cs typeface="Poppins Bold"/>
                <a:sym typeface="Poppins Bold"/>
              </a:rPr>
              <a:t>CloudFormation / Terraform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49882" y="3810705"/>
            <a:ext cx="70280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995"/>
                </a:solidFill>
                <a:latin typeface="Poppins"/>
                <a:ea typeface="Poppins"/>
                <a:cs typeface="Poppins"/>
                <a:sym typeface="Poppins"/>
              </a:rPr>
              <a:t>Recriar a infraestrutura de forma padronizada, versionada e mais rápida.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3235" y="5106343"/>
            <a:ext cx="7934049" cy="2415902"/>
            <a:chOff x="0" y="0"/>
            <a:chExt cx="10578732" cy="3221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78846" cy="3221228"/>
            </a:xfrm>
            <a:custGeom>
              <a:avLst/>
              <a:gdLst/>
              <a:ahLst/>
              <a:cxnLst/>
              <a:rect r="r" b="b" t="t" l="l"/>
              <a:pathLst>
                <a:path h="3221228" w="10578846">
                  <a:moveTo>
                    <a:pt x="0" y="386588"/>
                  </a:moveTo>
                  <a:cubicBezTo>
                    <a:pt x="0" y="173101"/>
                    <a:pt x="173101" y="0"/>
                    <a:pt x="386588" y="0"/>
                  </a:cubicBezTo>
                  <a:lnTo>
                    <a:pt x="10192258" y="0"/>
                  </a:lnTo>
                  <a:cubicBezTo>
                    <a:pt x="10405745" y="0"/>
                    <a:pt x="10578846" y="173101"/>
                    <a:pt x="10578846" y="386588"/>
                  </a:cubicBezTo>
                  <a:lnTo>
                    <a:pt x="10578846" y="2834640"/>
                  </a:lnTo>
                  <a:cubicBezTo>
                    <a:pt x="10578846" y="3048127"/>
                    <a:pt x="10405745" y="3221228"/>
                    <a:pt x="10192258" y="3221228"/>
                  </a:cubicBezTo>
                  <a:lnTo>
                    <a:pt x="386588" y="3221228"/>
                  </a:lnTo>
                  <a:cubicBezTo>
                    <a:pt x="173101" y="3221228"/>
                    <a:pt x="0" y="3048127"/>
                    <a:pt x="0" y="28346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43235" y="5106343"/>
            <a:ext cx="137265" cy="2415902"/>
            <a:chOff x="0" y="0"/>
            <a:chExt cx="183020" cy="32212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007" cy="3221228"/>
            </a:xfrm>
            <a:custGeom>
              <a:avLst/>
              <a:gdLst/>
              <a:ahLst/>
              <a:cxnLst/>
              <a:rect r="r" b="b" t="t" l="l"/>
              <a:pathLst>
                <a:path h="32212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009789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13853" y="5371348"/>
            <a:ext cx="711044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730" b="true">
                <a:solidFill>
                  <a:srgbClr val="009789"/>
                </a:solidFill>
                <a:latin typeface="Poppins Bold"/>
                <a:ea typeface="Poppins Bold"/>
                <a:cs typeface="Poppins Bold"/>
                <a:sym typeface="Poppins Bold"/>
              </a:rPr>
              <a:t>ENTREGA CONTÍNUA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3853" y="5861314"/>
            <a:ext cx="708299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22C4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Pipelines CI/CD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3853" y="6487420"/>
            <a:ext cx="70280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995"/>
                </a:solidFill>
                <a:latin typeface="Poppins"/>
                <a:ea typeface="Poppins"/>
                <a:cs typeface="Poppins"/>
                <a:sym typeface="Poppins"/>
              </a:rPr>
              <a:t>Automatizar testes e implantações, reduzindo erros nas atualizações.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79265" y="5106343"/>
            <a:ext cx="7934049" cy="2415902"/>
            <a:chOff x="0" y="0"/>
            <a:chExt cx="10578732" cy="3221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78846" cy="3221228"/>
            </a:xfrm>
            <a:custGeom>
              <a:avLst/>
              <a:gdLst/>
              <a:ahLst/>
              <a:cxnLst/>
              <a:rect r="r" b="b" t="t" l="l"/>
              <a:pathLst>
                <a:path h="3221228" w="10578846">
                  <a:moveTo>
                    <a:pt x="0" y="386588"/>
                  </a:moveTo>
                  <a:cubicBezTo>
                    <a:pt x="0" y="173101"/>
                    <a:pt x="173101" y="0"/>
                    <a:pt x="386588" y="0"/>
                  </a:cubicBezTo>
                  <a:lnTo>
                    <a:pt x="10192258" y="0"/>
                  </a:lnTo>
                  <a:cubicBezTo>
                    <a:pt x="10405745" y="0"/>
                    <a:pt x="10578846" y="173101"/>
                    <a:pt x="10578846" y="386588"/>
                  </a:cubicBezTo>
                  <a:lnTo>
                    <a:pt x="10578846" y="2834640"/>
                  </a:lnTo>
                  <a:cubicBezTo>
                    <a:pt x="10578846" y="3048127"/>
                    <a:pt x="10405745" y="3221228"/>
                    <a:pt x="10192258" y="3221228"/>
                  </a:cubicBezTo>
                  <a:lnTo>
                    <a:pt x="386588" y="3221228"/>
                  </a:lnTo>
                  <a:cubicBezTo>
                    <a:pt x="173101" y="3221228"/>
                    <a:pt x="0" y="3048127"/>
                    <a:pt x="0" y="28346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279265" y="5106343"/>
            <a:ext cx="137265" cy="2415902"/>
            <a:chOff x="0" y="0"/>
            <a:chExt cx="183020" cy="32212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3007" cy="3221228"/>
            </a:xfrm>
            <a:custGeom>
              <a:avLst/>
              <a:gdLst/>
              <a:ahLst/>
              <a:cxnLst/>
              <a:rect r="r" b="b" t="t" l="l"/>
              <a:pathLst>
                <a:path h="32212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221228"/>
                  </a:lnTo>
                  <a:lnTo>
                    <a:pt x="0" y="3221228"/>
                  </a:lnTo>
                  <a:close/>
                </a:path>
              </a:pathLst>
            </a:custGeom>
            <a:solidFill>
              <a:srgbClr val="F59900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649882" y="5371348"/>
            <a:ext cx="711044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730" b="true">
                <a:solidFill>
                  <a:srgbClr val="F59900"/>
                </a:solidFill>
                <a:latin typeface="Poppins Bold"/>
                <a:ea typeface="Poppins Bold"/>
                <a:cs typeface="Poppins Bold"/>
                <a:sym typeface="Poppins Bold"/>
              </a:rPr>
              <a:t>GESTÃO DE CUSTOS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49882" y="5861314"/>
            <a:ext cx="708299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22C40"/>
                </a:solidFill>
                <a:latin typeface="Poppins Bold"/>
                <a:ea typeface="Poppins Bold"/>
                <a:cs typeface="Poppins Bold"/>
                <a:sym typeface="Poppins Bold"/>
              </a:rPr>
              <a:t>FinOps e AWS Budgets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49882" y="6487420"/>
            <a:ext cx="70280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995"/>
                </a:solidFill>
                <a:latin typeface="Poppins"/>
                <a:ea typeface="Poppins"/>
                <a:cs typeface="Poppins"/>
                <a:sym typeface="Poppins"/>
              </a:rPr>
              <a:t>Acompanhar gastos, configurar alertas e ajustar recursos conforme o uso.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43235" y="8153676"/>
            <a:ext cx="16197539" cy="864784"/>
            <a:chOff x="0" y="0"/>
            <a:chExt cx="21596718" cy="115304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59660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1596604">
                  <a:moveTo>
                    <a:pt x="0" y="138303"/>
                  </a:moveTo>
                  <a:cubicBezTo>
                    <a:pt x="0" y="61976"/>
                    <a:pt x="61976" y="0"/>
                    <a:pt x="138303" y="0"/>
                  </a:cubicBezTo>
                  <a:lnTo>
                    <a:pt x="21458301" y="0"/>
                  </a:lnTo>
                  <a:cubicBezTo>
                    <a:pt x="21534755" y="0"/>
                    <a:pt x="21596604" y="61976"/>
                    <a:pt x="21596604" y="138303"/>
                  </a:cubicBezTo>
                  <a:lnTo>
                    <a:pt x="21596604" y="1014603"/>
                  </a:lnTo>
                  <a:cubicBezTo>
                    <a:pt x="21596604" y="1091057"/>
                    <a:pt x="21534628" y="1152906"/>
                    <a:pt x="21458301" y="1152906"/>
                  </a:cubicBezTo>
                  <a:lnTo>
                    <a:pt x="138303" y="1152906"/>
                  </a:lnTo>
                  <a:cubicBezTo>
                    <a:pt x="61976" y="1153033"/>
                    <a:pt x="0" y="1091057"/>
                    <a:pt x="0" y="1014730"/>
                  </a:cubicBezTo>
                  <a:close/>
                </a:path>
              </a:pathLst>
            </a:custGeom>
            <a:solidFill>
              <a:srgbClr val="22367E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400127" y="8359578"/>
            <a:ext cx="154562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 objetivo: evoluir com segurança, automação e continuidade do negócio.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9601200"/>
            <a:ext cx="12344400" cy="411480"/>
            <a:chOff x="0" y="0"/>
            <a:chExt cx="164592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VarejoJá • AWS re/Start | Generation Brasil | Grupo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7755" y="1224915"/>
            <a:ext cx="16203930" cy="7837170"/>
            <a:chOff x="0" y="0"/>
            <a:chExt cx="21605240" cy="10449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05241" cy="10449560"/>
            </a:xfrm>
            <a:custGeom>
              <a:avLst/>
              <a:gdLst/>
              <a:ahLst/>
              <a:cxnLst/>
              <a:rect r="r" b="b" t="t" l="l"/>
              <a:pathLst>
                <a:path h="10449560" w="21605241">
                  <a:moveTo>
                    <a:pt x="0" y="275082"/>
                  </a:moveTo>
                  <a:cubicBezTo>
                    <a:pt x="0" y="123190"/>
                    <a:pt x="123190" y="0"/>
                    <a:pt x="275082" y="0"/>
                  </a:cubicBezTo>
                  <a:lnTo>
                    <a:pt x="21330158" y="0"/>
                  </a:lnTo>
                  <a:cubicBezTo>
                    <a:pt x="21482050" y="0"/>
                    <a:pt x="21605241" y="123190"/>
                    <a:pt x="21605241" y="275082"/>
                  </a:cubicBezTo>
                  <a:lnTo>
                    <a:pt x="21605241" y="10174478"/>
                  </a:lnTo>
                  <a:cubicBezTo>
                    <a:pt x="21605241" y="10326370"/>
                    <a:pt x="21482050" y="10449560"/>
                    <a:pt x="21330158" y="10449560"/>
                  </a:cubicBezTo>
                  <a:lnTo>
                    <a:pt x="275082" y="10449560"/>
                  </a:lnTo>
                  <a:cubicBezTo>
                    <a:pt x="123190" y="10449560"/>
                    <a:pt x="0" y="10326370"/>
                    <a:pt x="0" y="10174478"/>
                  </a:cubicBezTo>
                  <a:close/>
                </a:path>
              </a:pathLst>
            </a:custGeom>
            <a:solidFill>
              <a:srgbClr val="E6E8EF"/>
            </a:solidFill>
            <a:ln w="19050" cap="sq">
              <a:solidFill>
                <a:srgbClr val="E6E8E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009775" y="1876138"/>
            <a:ext cx="4944335" cy="1648112"/>
            <a:chOff x="0" y="0"/>
            <a:chExt cx="6035040" cy="2011680"/>
          </a:xfrm>
        </p:grpSpPr>
        <p:sp>
          <p:nvSpPr>
            <p:cNvPr name="Freeform 10" id="10" descr="logo_small.png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57400" y="3750945"/>
            <a:ext cx="8778240" cy="1234440"/>
            <a:chOff x="0" y="0"/>
            <a:chExt cx="1170432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704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EA58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OBRIGADO PELA ATENÇÃO!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57400" y="5242560"/>
            <a:ext cx="8503920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Conheça nosso projeto e conecte-se com a equipe!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7400" y="6482715"/>
            <a:ext cx="850392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Escaneie o QR code para acessar o repositório do projeto e o LinkedIn dos integrantes.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7400" y="8004810"/>
            <a:ext cx="87782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Projeto de Conclusão AWS re/Start • Generation Brasil • 2026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544300" y="2596515"/>
            <a:ext cx="5093970" cy="5093970"/>
            <a:chOff x="0" y="0"/>
            <a:chExt cx="6791960" cy="6791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91960" cy="6791960"/>
            </a:xfrm>
            <a:custGeom>
              <a:avLst/>
              <a:gdLst/>
              <a:ahLst/>
              <a:cxnLst/>
              <a:rect r="r" b="b" t="t" l="l"/>
              <a:pathLst>
                <a:path h="6791960" w="6791960">
                  <a:moveTo>
                    <a:pt x="0" y="275336"/>
                  </a:moveTo>
                  <a:cubicBezTo>
                    <a:pt x="0" y="123317"/>
                    <a:pt x="123317" y="0"/>
                    <a:pt x="275336" y="0"/>
                  </a:cubicBezTo>
                  <a:lnTo>
                    <a:pt x="6516624" y="0"/>
                  </a:lnTo>
                  <a:cubicBezTo>
                    <a:pt x="6668643" y="0"/>
                    <a:pt x="6791960" y="123317"/>
                    <a:pt x="6791960" y="275336"/>
                  </a:cubicBezTo>
                  <a:lnTo>
                    <a:pt x="6791960" y="6516624"/>
                  </a:lnTo>
                  <a:cubicBezTo>
                    <a:pt x="6791960" y="6668643"/>
                    <a:pt x="6668643" y="6791960"/>
                    <a:pt x="6516624" y="6791960"/>
                  </a:cubicBezTo>
                  <a:lnTo>
                    <a:pt x="275336" y="6791960"/>
                  </a:lnTo>
                  <a:cubicBezTo>
                    <a:pt x="123317" y="6791960"/>
                    <a:pt x="0" y="6668643"/>
                    <a:pt x="0" y="65166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759565" y="2811780"/>
            <a:ext cx="4663440" cy="4663440"/>
            <a:chOff x="0" y="0"/>
            <a:chExt cx="6217920" cy="6217920"/>
          </a:xfrm>
        </p:grpSpPr>
        <p:sp>
          <p:nvSpPr>
            <p:cNvPr name="Freeform 20" id="20" descr="qr.png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217920"/>
                  </a:lnTo>
                  <a:lnTo>
                    <a:pt x="0" y="621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824960" y="9627870"/>
            <a:ext cx="64008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C2410C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DAHX6S467qc</dc:identifier>
  <dcterms:modified xsi:type="dcterms:W3CDTF">2011-08-01T06:04:30Z</dcterms:modified>
  <cp:revision>1</cp:revision>
  <dc:title>VarejoJa_Apresentacao_Final.pptx</dc:title>
</cp:coreProperties>
</file>